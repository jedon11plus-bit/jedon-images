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56" r:id="rId3"/>
    <p:sldId id="308" r:id="rId4"/>
    <p:sldId id="309" r:id="rId5"/>
    <p:sldId id="310" r:id="rId6"/>
    <p:sldId id="311" r:id="rId7"/>
    <p:sldId id="312" r:id="rId8"/>
    <p:sldId id="313" r:id="rId9"/>
    <p:sldId id="314" r:id="rId10"/>
    <p:sldId id="315" r:id="rId11"/>
    <p:sldId id="316" r:id="rId12"/>
    <p:sldId id="317" r:id="rId13"/>
    <p:sldId id="31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00B95B-75D8-42D0-9650-28B144586316}" type="datetimeFigureOut">
              <a:rPr lang="en-GB" smtClean="0"/>
              <a:t>11/09/2026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4E9EE-B0CC-4B4F-B38A-F0120E456C43}" type="slidenum">
              <a:rPr lang="en-GB" smtClean="0"/>
              <a:t>‹#›</a:t>
            </a:fld>
            <a:endParaRPr lang="en-GB"/>
          </a:p>
        </p:txBody>
      </p:sp>
    </p:spTree>
    <p:extLst>
      <p:ext uri="{BB962C8B-B14F-4D97-AF65-F5344CB8AC3E}">
        <p14:creationId xmlns:p14="http://schemas.microsoft.com/office/powerpoint/2010/main" val="1966918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1850-3732-133F-B5F5-A453CF4F5B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D4D8997-AFAB-0C8E-135C-53F9FA6ED6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E5AE7C4-947D-4CDA-3793-737DCA1FA7BD}"/>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5" name="Footer Placeholder 4">
            <a:extLst>
              <a:ext uri="{FF2B5EF4-FFF2-40B4-BE49-F238E27FC236}">
                <a16:creationId xmlns:a16="http://schemas.microsoft.com/office/drawing/2014/main" id="{5B92C70B-9C43-9DB9-4141-5D9F46AB45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0C91D6-1629-5065-763D-3777B45BE65A}"/>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3858877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24D63-AD63-DDB5-2F99-DAA26C81AEE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527B1E3-A035-4D52-C5FD-825E597177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FF255F-BC51-BA25-AD75-8C550B0789A4}"/>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5" name="Footer Placeholder 4">
            <a:extLst>
              <a:ext uri="{FF2B5EF4-FFF2-40B4-BE49-F238E27FC236}">
                <a16:creationId xmlns:a16="http://schemas.microsoft.com/office/drawing/2014/main" id="{5681994D-2E2A-A3E1-1A08-5EDC68EA19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973205-81F7-71D8-8DBA-DA2EA10B76D2}"/>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2004341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5699A-E504-CD52-633A-17871DB621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2FE35C3-0290-B770-CE4F-5F72C12BEF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12398A-9C71-132A-812B-019A7FA7F39F}"/>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5" name="Footer Placeholder 4">
            <a:extLst>
              <a:ext uri="{FF2B5EF4-FFF2-40B4-BE49-F238E27FC236}">
                <a16:creationId xmlns:a16="http://schemas.microsoft.com/office/drawing/2014/main" id="{CC1B8100-7301-296A-2422-939F125001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853DF1C-3CBD-3824-4AB5-07775621A83B}"/>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3251980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7D33F-4AE7-8560-FCAA-F24AD5E21C8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2E0256D-C2AF-86D1-7181-D3E3EE244A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8D395E-9089-202E-5290-13185ACC3D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616A4C5-B4A7-7D2A-2094-4B8A2B4CD65D}"/>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6" name="Footer Placeholder 5">
            <a:extLst>
              <a:ext uri="{FF2B5EF4-FFF2-40B4-BE49-F238E27FC236}">
                <a16:creationId xmlns:a16="http://schemas.microsoft.com/office/drawing/2014/main" id="{5914524C-7F5C-7CEC-5E9F-46EB0895FB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BDB29A-ABD8-DB88-BB9B-4D102BE6D708}"/>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2973879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A56A2-ECFE-BC6E-5AAB-D7232B98B03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C40A7B8-D264-307A-42FE-928B84CBA1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3802A1-23F7-2273-091F-90904A0765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A0954D3-0022-57CF-9E9F-44AEC155A1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5A4E7-DD59-3E0D-0C0C-9B94E62F9B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B9BEB59-DFEA-97E0-834A-1C2157C9F708}"/>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8" name="Footer Placeholder 7">
            <a:extLst>
              <a:ext uri="{FF2B5EF4-FFF2-40B4-BE49-F238E27FC236}">
                <a16:creationId xmlns:a16="http://schemas.microsoft.com/office/drawing/2014/main" id="{EFE73112-656B-52A2-CCFA-BE586110109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E6D8B02-5039-5CBF-D87E-D04FED7D2555}"/>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344371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AE6C-EC77-A77C-EB63-3078A04A021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236BD59-2F74-B99C-1E88-31C29CD9A5E4}"/>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4" name="Footer Placeholder 3">
            <a:extLst>
              <a:ext uri="{FF2B5EF4-FFF2-40B4-BE49-F238E27FC236}">
                <a16:creationId xmlns:a16="http://schemas.microsoft.com/office/drawing/2014/main" id="{90E643B4-F509-F654-1CB0-61FEF1B8367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4866D16-774D-2F21-7265-5CB1E1D14DFC}"/>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1411591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966DB4-79C9-DB4E-1E1F-AF29313080DC}"/>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3" name="Footer Placeholder 2">
            <a:extLst>
              <a:ext uri="{FF2B5EF4-FFF2-40B4-BE49-F238E27FC236}">
                <a16:creationId xmlns:a16="http://schemas.microsoft.com/office/drawing/2014/main" id="{8C231DE6-F2B7-88DE-9E95-569AC098BAC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D309487-B458-D1D7-DCF6-CA0C5E5859FF}"/>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2731134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B883F-8A44-92AA-63E3-BD4A27286F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0B2C2E1-1B00-8D9C-F6A4-605AB77B4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7C2BDEF-6512-8EEE-72F0-36CC0B6732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A196B-C4B3-547D-5313-929818C85DC5}"/>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6" name="Footer Placeholder 5">
            <a:extLst>
              <a:ext uri="{FF2B5EF4-FFF2-40B4-BE49-F238E27FC236}">
                <a16:creationId xmlns:a16="http://schemas.microsoft.com/office/drawing/2014/main" id="{522EB7F4-5ADD-CF9C-A08B-8EC423BEE5E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481C7D1-4D24-BED1-7FEF-7B0C145CC60B}"/>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937474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0505A-246B-83D4-D036-D30F82C5D5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2A3CA05-1FA3-2311-9098-FA13D0469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65B8B76-9496-8AD5-E58E-F95A432AE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34FFEF-5A80-4510-3BC3-36481C8DDCAE}"/>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6" name="Footer Placeholder 5">
            <a:extLst>
              <a:ext uri="{FF2B5EF4-FFF2-40B4-BE49-F238E27FC236}">
                <a16:creationId xmlns:a16="http://schemas.microsoft.com/office/drawing/2014/main" id="{22D95439-C6FE-4129-3994-6832C6CB0B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6AD3996-BB4E-E560-BB60-B77CD137CF76}"/>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2723309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2224-C03D-E9AF-7805-27A1136E439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9EE9223-5536-EC4A-3879-9203EC5D54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8C4BC3-7F27-18F2-BEB0-43920B288E70}"/>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5" name="Footer Placeholder 4">
            <a:extLst>
              <a:ext uri="{FF2B5EF4-FFF2-40B4-BE49-F238E27FC236}">
                <a16:creationId xmlns:a16="http://schemas.microsoft.com/office/drawing/2014/main" id="{5A0C73B0-FA1F-322D-3990-CF44EA0487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CCDA88-C122-AC61-9201-65A65AA8BA78}"/>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3912569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0E957E-C10A-78C8-AFB1-540C9571B5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80A2DE-348A-C8FA-65C4-AB95D85567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B06133-010B-8664-4008-6A0E084D4148}"/>
              </a:ext>
            </a:extLst>
          </p:cNvPr>
          <p:cNvSpPr>
            <a:spLocks noGrp="1"/>
          </p:cNvSpPr>
          <p:nvPr>
            <p:ph type="dt" sz="half" idx="10"/>
          </p:nvPr>
        </p:nvSpPr>
        <p:spPr/>
        <p:txBody>
          <a:bodyPr/>
          <a:lstStyle/>
          <a:p>
            <a:fld id="{80A556D3-D357-43D8-89F1-CFABACAF3973}" type="datetimeFigureOut">
              <a:rPr lang="en-GB" smtClean="0"/>
              <a:t>11/09/2026</a:t>
            </a:fld>
            <a:endParaRPr lang="en-GB"/>
          </a:p>
        </p:txBody>
      </p:sp>
      <p:sp>
        <p:nvSpPr>
          <p:cNvPr id="5" name="Footer Placeholder 4">
            <a:extLst>
              <a:ext uri="{FF2B5EF4-FFF2-40B4-BE49-F238E27FC236}">
                <a16:creationId xmlns:a16="http://schemas.microsoft.com/office/drawing/2014/main" id="{AA1DDFE7-F680-23E3-CCD9-060F5CA172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277150-1C01-7F88-BC8B-68E418FA8DC9}"/>
              </a:ext>
            </a:extLst>
          </p:cNvPr>
          <p:cNvSpPr>
            <a:spLocks noGrp="1"/>
          </p:cNvSpPr>
          <p:nvPr>
            <p:ph type="sldNum" sz="quarter" idx="12"/>
          </p:nvPr>
        </p:nvSpPr>
        <p:spPr/>
        <p:txBody>
          <a:bodyPr/>
          <a:lstStyle/>
          <a:p>
            <a:fld id="{0C09FBFF-2422-4F99-BB67-4315F4911856}" type="slidenum">
              <a:rPr lang="en-GB" smtClean="0"/>
              <a:t>‹#›</a:t>
            </a:fld>
            <a:endParaRPr lang="en-GB"/>
          </a:p>
        </p:txBody>
      </p:sp>
    </p:spTree>
    <p:extLst>
      <p:ext uri="{BB962C8B-B14F-4D97-AF65-F5344CB8AC3E}">
        <p14:creationId xmlns:p14="http://schemas.microsoft.com/office/powerpoint/2010/main" val="1363135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0854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5234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4C04FC-4E12-2F74-4298-C72F4FF8B8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78FE3B3-1FA6-B890-B196-A449704F7D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1A95AAB-EAE6-F4D4-79D7-E64D625035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A556D3-D357-43D8-89F1-CFABACAF3973}" type="datetimeFigureOut">
              <a:rPr lang="en-GB" smtClean="0"/>
              <a:t>11/09/2026</a:t>
            </a:fld>
            <a:endParaRPr lang="en-GB"/>
          </a:p>
        </p:txBody>
      </p:sp>
      <p:sp>
        <p:nvSpPr>
          <p:cNvPr id="5" name="Footer Placeholder 4">
            <a:extLst>
              <a:ext uri="{FF2B5EF4-FFF2-40B4-BE49-F238E27FC236}">
                <a16:creationId xmlns:a16="http://schemas.microsoft.com/office/drawing/2014/main" id="{F4457EF4-6806-6877-4D9D-4F678B32C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623FF1D-4BBB-2B9A-517F-BDA50FEF8A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09FBFF-2422-4F99-BB67-4315F4911856}" type="slidenum">
              <a:rPr lang="en-GB" smtClean="0"/>
              <a:t>‹#›</a:t>
            </a:fld>
            <a:endParaRPr lang="en-GB"/>
          </a:p>
        </p:txBody>
      </p:sp>
    </p:spTree>
    <p:extLst>
      <p:ext uri="{BB962C8B-B14F-4D97-AF65-F5344CB8AC3E}">
        <p14:creationId xmlns:p14="http://schemas.microsoft.com/office/powerpoint/2010/main" val="1680676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032638"/>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E0CE4-7DB1-B44C-4790-59E77175262A}"/>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5B940F25-23ED-DA5D-977B-B593EC97C90E}"/>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430051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24A2F"/>
        </a:solidFill>
        <a:effectLst/>
      </p:bgPr>
    </p:bg>
    <p:spTree>
      <p:nvGrpSpPr>
        <p:cNvPr id="1" name=""/>
        <p:cNvGrpSpPr/>
        <p:nvPr/>
      </p:nvGrpSpPr>
      <p:grpSpPr>
        <a:xfrm>
          <a:off x="0" y="0"/>
          <a:ext cx="0" cy="0"/>
          <a:chOff x="0" y="0"/>
          <a:chExt cx="0" cy="0"/>
        </a:xfrm>
      </p:grpSpPr>
      <p:sp>
        <p:nvSpPr>
          <p:cNvPr id="2" name="Shape 0"/>
          <p:cNvSpPr/>
          <p:nvPr/>
        </p:nvSpPr>
        <p:spPr>
          <a:xfrm>
            <a:off x="9875520" y="4206240"/>
            <a:ext cx="4572000" cy="4572000"/>
          </a:xfrm>
          <a:prstGeom prst="ellipse">
            <a:avLst/>
          </a:prstGeom>
          <a:solidFill>
            <a:srgbClr val="FFFFFF">
              <a:alpha val="1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828800" y="-1828800"/>
            <a:ext cx="4114800" cy="4114800"/>
          </a:xfrm>
          <a:prstGeom prst="ellipse">
            <a:avLst/>
          </a:prstGeom>
          <a:solidFill>
            <a:srgbClr val="FFFFFF">
              <a:alpha val="1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822960" y="1188720"/>
            <a:ext cx="27432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0" b="1" i="0" u="none" strike="noStrike" kern="1200" cap="none" spc="0" normalizeH="0" baseline="0" noProof="0" dirty="0">
                <a:ln>
                  <a:noFill/>
                </a:ln>
                <a:solidFill>
                  <a:srgbClr val="FFFFFF">
                    <a:alpha val="82000"/>
                  </a:srgbClr>
                </a:solidFill>
                <a:effectLst/>
                <a:uLnTx/>
                <a:uFillTx/>
                <a:latin typeface="Cambria" pitchFamily="34" charset="0"/>
                <a:ea typeface="Cambria" pitchFamily="34" charset="-122"/>
                <a:cs typeface="Cambria" pitchFamily="34" charset="-120"/>
              </a:rPr>
              <a:t>04</a:t>
            </a:r>
            <a:endParaRPr kumimoji="0" lang="en-US" sz="9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68680" y="2788920"/>
            <a:ext cx="2743200" cy="1828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I</a:t>
            </a:r>
            <a:endParaRPr kumimoji="0" lang="en-US" sz="1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566160" y="3063240"/>
            <a:ext cx="786384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0" cap="none" spc="200" normalizeH="0" baseline="0" noProof="0" dirty="0">
                <a:ln>
                  <a:noFill/>
                </a:ln>
                <a:solidFill>
                  <a:srgbClr val="FFFFFF"/>
                </a:solidFill>
                <a:effectLst/>
                <a:uLnTx/>
                <a:uFillTx/>
                <a:latin typeface="Calibri" pitchFamily="34" charset="0"/>
                <a:ea typeface="Calibri" pitchFamily="34" charset="-122"/>
                <a:cs typeface="Calibri" pitchFamily="34" charset="-120"/>
              </a:rPr>
              <a:t>ISSUE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611880" y="3977640"/>
            <a:ext cx="7680960" cy="91440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Spotting the real gap behind a struggle, instead of guessing at solutions.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594360" cy="59436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home/claude/begin_deck/icons/puzzle.png"/>
          <p:cNvPicPr>
            <a:picLocks noChangeAspect="1"/>
          </p:cNvPicPr>
          <p:nvPr/>
        </p:nvPicPr>
        <p:blipFill>
          <a:blip r:embed="rId3"/>
          <a:stretch>
            <a:fillRect/>
          </a:stretch>
        </p:blipFill>
        <p:spPr>
          <a:xfrm>
            <a:off x="713232" y="713232"/>
            <a:ext cx="274320" cy="274320"/>
          </a:xfrm>
          <a:prstGeom prst="rect">
            <a:avLst/>
          </a:prstGeom>
        </p:spPr>
      </p:pic>
      <p:sp>
        <p:nvSpPr>
          <p:cNvPr id="4" name="Text 1"/>
          <p:cNvSpPr/>
          <p:nvPr/>
        </p:nvSpPr>
        <p:spPr>
          <a:xfrm>
            <a:off x="1325880" y="566928"/>
            <a:ext cx="9601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24A2F"/>
                </a:solidFill>
                <a:effectLst/>
                <a:uLnTx/>
                <a:uFillTx/>
                <a:latin typeface="Calibri" pitchFamily="34" charset="0"/>
                <a:ea typeface="Calibri" pitchFamily="34" charset="-122"/>
                <a:cs typeface="Calibri" pitchFamily="34" charset="-120"/>
              </a:rPr>
              <a:t>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325880" y="841248"/>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E27"/>
                </a:solidFill>
                <a:effectLst/>
                <a:uLnTx/>
                <a:uFillTx/>
                <a:latin typeface="Cambria" pitchFamily="34" charset="0"/>
                <a:ea typeface="Cambria" pitchFamily="34" charset="-122"/>
                <a:cs typeface="Cambria" pitchFamily="34" charset="-120"/>
              </a:rPr>
              <a:t>What is a learning gap?</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822960" y="1691640"/>
            <a:ext cx="10607040" cy="82296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 learning gap is simply the space between what your child currently knows and what they need to know to move forward. It's a signal, not a verdict, it doesn't define your child, and it isn't fixed.</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822960" y="2414016"/>
            <a:ext cx="10607040" cy="82296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Gaps can be visible (low grades, obvious difficulty) or hidden, especially in high-performing children who look fine on paper but quietly struggle to comprehend or cope with something new.</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594360" cy="59436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home/claude/begin_deck/icons/balance.png"/>
          <p:cNvPicPr>
            <a:picLocks noChangeAspect="1"/>
          </p:cNvPicPr>
          <p:nvPr/>
        </p:nvPicPr>
        <p:blipFill>
          <a:blip r:embed="rId3"/>
          <a:stretch>
            <a:fillRect/>
          </a:stretch>
        </p:blipFill>
        <p:spPr>
          <a:xfrm>
            <a:off x="713232" y="713232"/>
            <a:ext cx="274320" cy="274320"/>
          </a:xfrm>
          <a:prstGeom prst="rect">
            <a:avLst/>
          </a:prstGeom>
        </p:spPr>
      </p:pic>
      <p:sp>
        <p:nvSpPr>
          <p:cNvPr id="4" name="Text 1"/>
          <p:cNvSpPr/>
          <p:nvPr/>
        </p:nvSpPr>
        <p:spPr>
          <a:xfrm>
            <a:off x="1325880" y="566928"/>
            <a:ext cx="9601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24A2F"/>
                </a:solidFill>
                <a:effectLst/>
                <a:uLnTx/>
                <a:uFillTx/>
                <a:latin typeface="Calibri" pitchFamily="34" charset="0"/>
                <a:ea typeface="Calibri" pitchFamily="34" charset="-122"/>
                <a:cs typeface="Calibri" pitchFamily="34" charset="-120"/>
              </a:rPr>
              <a:t>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325880" y="841248"/>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E27"/>
                </a:solidFill>
                <a:effectLst/>
                <a:uLnTx/>
                <a:uFillTx/>
                <a:latin typeface="Cambria" pitchFamily="34" charset="0"/>
                <a:ea typeface="Cambria" pitchFamily="34" charset="-122"/>
                <a:cs typeface="Cambria" pitchFamily="34" charset="-120"/>
              </a:rPr>
              <a:t>Why good grades can mislead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868680" y="1828800"/>
            <a:ext cx="10424160" cy="4572000"/>
          </a:xfrm>
          <a:prstGeom prst="rect">
            <a:avLst/>
          </a:prstGeom>
          <a:noFill/>
          <a:ln/>
        </p:spPr>
        <p:txBody>
          <a:bodyPr wrap="square" lIns="0" tIns="0" rIns="0" bIns="0" rtlCol="0" anchor="t"/>
          <a:lstStyle/>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 child can reproduce information correctly without truly understanding it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 child can score well while comprehending only shallowly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 child can excel in one area and struggle significantly in another, due to a specific skills gap</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 child can pass every school test and still not feel equipped to learn independently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594360" cy="59436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home/claude/begin_deck/icons/search.png"/>
          <p:cNvPicPr>
            <a:picLocks noChangeAspect="1"/>
          </p:cNvPicPr>
          <p:nvPr/>
        </p:nvPicPr>
        <p:blipFill>
          <a:blip r:embed="rId3"/>
          <a:stretch>
            <a:fillRect/>
          </a:stretch>
        </p:blipFill>
        <p:spPr>
          <a:xfrm>
            <a:off x="713232" y="713232"/>
            <a:ext cx="274320" cy="274320"/>
          </a:xfrm>
          <a:prstGeom prst="rect">
            <a:avLst/>
          </a:prstGeom>
        </p:spPr>
      </p:pic>
      <p:sp>
        <p:nvSpPr>
          <p:cNvPr id="4" name="Text 1"/>
          <p:cNvSpPr/>
          <p:nvPr/>
        </p:nvSpPr>
        <p:spPr>
          <a:xfrm>
            <a:off x="1325880" y="566928"/>
            <a:ext cx="9601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24A2F"/>
                </a:solidFill>
                <a:effectLst/>
                <a:uLnTx/>
                <a:uFillTx/>
                <a:latin typeface="Calibri" pitchFamily="34" charset="0"/>
                <a:ea typeface="Calibri" pitchFamily="34" charset="-122"/>
                <a:cs typeface="Calibri" pitchFamily="34" charset="-120"/>
              </a:rPr>
              <a:t>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325880" y="841248"/>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E27"/>
                </a:solidFill>
                <a:effectLst/>
                <a:uLnTx/>
                <a:uFillTx/>
                <a:latin typeface="Cambria" pitchFamily="34" charset="0"/>
                <a:ea typeface="Cambria" pitchFamily="34" charset="-122"/>
                <a:cs typeface="Cambria" pitchFamily="34" charset="-120"/>
              </a:rPr>
              <a:t>The layers behind a learning gap</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612648" y="1737360"/>
            <a:ext cx="3444240" cy="3931920"/>
          </a:xfrm>
          <a:prstGeom prst="roundRect">
            <a:avLst>
              <a:gd name="adj" fmla="val 2124"/>
            </a:avLst>
          </a:prstGeom>
          <a:solidFill>
            <a:srgbClr val="FBEA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841248" y="1920240"/>
            <a:ext cx="298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Foundational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841248" y="2377440"/>
            <a:ext cx="2987040" cy="310896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Missed early building blocks, number sense, phonics, or enough hands-on play to build focus and coordination.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76928" y="1737360"/>
            <a:ext cx="3444240" cy="3931920"/>
          </a:xfrm>
          <a:prstGeom prst="roundRect">
            <a:avLst>
              <a:gd name="adj" fmla="val 2124"/>
            </a:avLst>
          </a:prstGeom>
          <a:solidFill>
            <a:srgbClr val="FBEA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605528" y="1920240"/>
            <a:ext cx="298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Environment &amp; systems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4605528" y="2377440"/>
            <a:ext cx="2987040" cy="310896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Home or school conditions, sleep, stress, a curriculum mismatch, or a teaching style that doesn't fit.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8141208" y="1737360"/>
            <a:ext cx="3444240" cy="3931920"/>
          </a:xfrm>
          <a:prstGeom prst="roundRect">
            <a:avLst>
              <a:gd name="adj" fmla="val 2124"/>
            </a:avLst>
          </a:prstGeom>
          <a:solidFill>
            <a:srgbClr val="FBEA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8369808" y="1920240"/>
            <a:ext cx="298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Learning profile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8369808" y="2377440"/>
            <a:ext cx="2987040" cy="310896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How your child's brain naturally processes information, their particular strengths, styles and differences.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594360" cy="59436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home/claude/begin_deck/icons/balance.png"/>
          <p:cNvPicPr>
            <a:picLocks noChangeAspect="1"/>
          </p:cNvPicPr>
          <p:nvPr/>
        </p:nvPicPr>
        <p:blipFill>
          <a:blip r:embed="rId3"/>
          <a:stretch>
            <a:fillRect/>
          </a:stretch>
        </p:blipFill>
        <p:spPr>
          <a:xfrm>
            <a:off x="713232" y="713232"/>
            <a:ext cx="274320" cy="274320"/>
          </a:xfrm>
          <a:prstGeom prst="rect">
            <a:avLst/>
          </a:prstGeom>
        </p:spPr>
      </p:pic>
      <p:sp>
        <p:nvSpPr>
          <p:cNvPr id="4" name="Text 1"/>
          <p:cNvSpPr/>
          <p:nvPr/>
        </p:nvSpPr>
        <p:spPr>
          <a:xfrm>
            <a:off x="1325880" y="566928"/>
            <a:ext cx="9601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24A2F"/>
                </a:solidFill>
                <a:effectLst/>
                <a:uLnTx/>
                <a:uFillTx/>
                <a:latin typeface="Calibri" pitchFamily="34" charset="0"/>
                <a:ea typeface="Calibri" pitchFamily="34" charset="-122"/>
                <a:cs typeface="Calibri" pitchFamily="34" charset="-120"/>
              </a:rPr>
              <a:t>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325880" y="841248"/>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E27"/>
                </a:solidFill>
                <a:effectLst/>
                <a:uLnTx/>
                <a:uFillTx/>
                <a:latin typeface="Cambria" pitchFamily="34" charset="0"/>
                <a:ea typeface="Cambria" pitchFamily="34" charset="-122"/>
                <a:cs typeface="Cambria" pitchFamily="34" charset="-120"/>
              </a:rPr>
              <a:t>Learning difficulty vs. learning disability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822960" y="1691640"/>
            <a:ext cx="10607040" cy="82296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 learning difficulty describes the experience of struggle, often temporary, and usually resolved once you find the real cause: a foundational gap, a teaching-style mismatch, or simply not enough practice with a particular question type.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822960" y="2706624"/>
            <a:ext cx="10607040" cy="82296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 learning disability is different, a diagnosed, typically neurological difference (like dyslexia or ADHD) that tends to persist and benefits from formal assessment rather than “just more practice.” Struggling doesn't automatically mean disability, and two children with the same diagnosis can still look completely different day to day.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594360" cy="59436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home/claude/begin_deck/icons/brain.png"/>
          <p:cNvPicPr>
            <a:picLocks noChangeAspect="1"/>
          </p:cNvPicPr>
          <p:nvPr/>
        </p:nvPicPr>
        <p:blipFill>
          <a:blip r:embed="rId3"/>
          <a:stretch>
            <a:fillRect/>
          </a:stretch>
        </p:blipFill>
        <p:spPr>
          <a:xfrm>
            <a:off x="713232" y="713232"/>
            <a:ext cx="274320" cy="274320"/>
          </a:xfrm>
          <a:prstGeom prst="rect">
            <a:avLst/>
          </a:prstGeom>
        </p:spPr>
      </p:pic>
      <p:sp>
        <p:nvSpPr>
          <p:cNvPr id="4" name="Text 1"/>
          <p:cNvSpPr/>
          <p:nvPr/>
        </p:nvSpPr>
        <p:spPr>
          <a:xfrm>
            <a:off x="1325880" y="566928"/>
            <a:ext cx="9601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24A2F"/>
                </a:solidFill>
                <a:effectLst/>
                <a:uLnTx/>
                <a:uFillTx/>
                <a:latin typeface="Calibri" pitchFamily="34" charset="0"/>
                <a:ea typeface="Calibri" pitchFamily="34" charset="-122"/>
                <a:cs typeface="Calibri" pitchFamily="34" charset="-120"/>
              </a:rPr>
              <a:t>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325880" y="841248"/>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E27"/>
                </a:solidFill>
                <a:effectLst/>
                <a:uLnTx/>
                <a:uFillTx/>
                <a:latin typeface="Cambria" pitchFamily="34" charset="0"/>
                <a:ea typeface="Cambria" pitchFamily="34" charset="-122"/>
                <a:cs typeface="Cambria" pitchFamily="34" charset="-120"/>
              </a:rPr>
              <a:t>Common types of learning disability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612648" y="1737360"/>
            <a:ext cx="3444240" cy="1828800"/>
          </a:xfrm>
          <a:prstGeom prst="roundRect">
            <a:avLst>
              <a:gd name="adj" fmla="val 4000"/>
            </a:avLst>
          </a:prstGeom>
          <a:solidFill>
            <a:srgbClr val="FBEA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841248" y="1920240"/>
            <a:ext cx="298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Dyslexia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841248" y="2377440"/>
            <a:ext cx="2987040" cy="100584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Difficulty with reading fluency, spelling or decoding words, unrelated to intelligence.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76928" y="1737360"/>
            <a:ext cx="3444240" cy="1828800"/>
          </a:xfrm>
          <a:prstGeom prst="roundRect">
            <a:avLst>
              <a:gd name="adj" fmla="val 4000"/>
            </a:avLst>
          </a:prstGeom>
          <a:solidFill>
            <a:srgbClr val="FBEA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605528" y="1920240"/>
            <a:ext cx="298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Dyscalculia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4605528" y="2377440"/>
            <a:ext cx="2987040" cy="100584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Difficulty grasping number sense, sequences or basic arithmetic, even with repeated practice.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8141208" y="1737360"/>
            <a:ext cx="3444240" cy="1828800"/>
          </a:xfrm>
          <a:prstGeom prst="roundRect">
            <a:avLst>
              <a:gd name="adj" fmla="val 4000"/>
            </a:avLst>
          </a:prstGeom>
          <a:solidFill>
            <a:srgbClr val="FBEA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8369808" y="1920240"/>
            <a:ext cx="298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Attention differences (ADHD)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8369808" y="2377440"/>
            <a:ext cx="2987040" cy="100584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Difficulty sustaining focus or filtering distractions, not a lack of effort or discipline.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612648" y="3886200"/>
            <a:ext cx="3444240" cy="1828800"/>
          </a:xfrm>
          <a:prstGeom prst="roundRect">
            <a:avLst>
              <a:gd name="adj" fmla="val 4000"/>
            </a:avLst>
          </a:prstGeom>
          <a:solidFill>
            <a:srgbClr val="FBEA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841248" y="4069080"/>
            <a:ext cx="298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Dyspraxia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841248" y="4526280"/>
            <a:ext cx="2987040" cy="100584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Difficulty with coordination and fine motor skills, can affect handwriting speed and organisation.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376928" y="3886200"/>
            <a:ext cx="3444240" cy="1828800"/>
          </a:xfrm>
          <a:prstGeom prst="roundRect">
            <a:avLst>
              <a:gd name="adj" fmla="val 4000"/>
            </a:avLst>
          </a:prstGeom>
          <a:solidFill>
            <a:srgbClr val="FBEA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4605528" y="4069080"/>
            <a:ext cx="298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Processing speed differences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4605528" y="4526280"/>
            <a:ext cx="2987040" cy="100584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Taking longer to take in, process or respond to information, even when understanding is solid.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594360" cy="59436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home/claude/begin_deck/icons/balance.png"/>
          <p:cNvPicPr>
            <a:picLocks noChangeAspect="1"/>
          </p:cNvPicPr>
          <p:nvPr/>
        </p:nvPicPr>
        <p:blipFill>
          <a:blip r:embed="rId3"/>
          <a:stretch>
            <a:fillRect/>
          </a:stretch>
        </p:blipFill>
        <p:spPr>
          <a:xfrm>
            <a:off x="713232" y="713232"/>
            <a:ext cx="274320" cy="274320"/>
          </a:xfrm>
          <a:prstGeom prst="rect">
            <a:avLst/>
          </a:prstGeom>
        </p:spPr>
      </p:pic>
      <p:sp>
        <p:nvSpPr>
          <p:cNvPr id="4" name="Text 1"/>
          <p:cNvSpPr/>
          <p:nvPr/>
        </p:nvSpPr>
        <p:spPr>
          <a:xfrm>
            <a:off x="1325880" y="566928"/>
            <a:ext cx="9601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24A2F"/>
                </a:solidFill>
                <a:effectLst/>
                <a:uLnTx/>
                <a:uFillTx/>
                <a:latin typeface="Calibri" pitchFamily="34" charset="0"/>
                <a:ea typeface="Calibri" pitchFamily="34" charset="-122"/>
                <a:cs typeface="Calibri" pitchFamily="34" charset="-120"/>
              </a:rPr>
              <a:t>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325880" y="841248"/>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E27"/>
                </a:solidFill>
                <a:effectLst/>
                <a:uLnTx/>
                <a:uFillTx/>
                <a:latin typeface="Cambria" pitchFamily="34" charset="0"/>
                <a:ea typeface="Cambria" pitchFamily="34" charset="-122"/>
                <a:cs typeface="Cambria" pitchFamily="34" charset="-120"/>
              </a:rPr>
              <a:t>General awareness, not a diagnosis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822960" y="1691640"/>
            <a:ext cx="10607040" cy="82296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This list is here so the names feel familiar, not so you can diagnose from a slide. If something here rings a bell, the right next step is a proper assessment, an educational psychologist, your GP, or your child's school, not guessing alone.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822960" y="2706624"/>
            <a:ext cx="10607040" cy="82296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An accurate diagnosis leads to the right support; an assumed one, right or wrong, can shape how a child sees themselves for years.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594360" cy="59436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home/claude/begin_deck/icons/search.png"/>
          <p:cNvPicPr>
            <a:picLocks noChangeAspect="1"/>
          </p:cNvPicPr>
          <p:nvPr/>
        </p:nvPicPr>
        <p:blipFill>
          <a:blip r:embed="rId3"/>
          <a:stretch>
            <a:fillRect/>
          </a:stretch>
        </p:blipFill>
        <p:spPr>
          <a:xfrm>
            <a:off x="713232" y="713232"/>
            <a:ext cx="274320" cy="274320"/>
          </a:xfrm>
          <a:prstGeom prst="rect">
            <a:avLst/>
          </a:prstGeom>
        </p:spPr>
      </p:pic>
      <p:sp>
        <p:nvSpPr>
          <p:cNvPr id="4" name="Text 1"/>
          <p:cNvSpPr/>
          <p:nvPr/>
        </p:nvSpPr>
        <p:spPr>
          <a:xfrm>
            <a:off x="1325880" y="566928"/>
            <a:ext cx="9601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24A2F"/>
                </a:solidFill>
                <a:effectLst/>
                <a:uLnTx/>
                <a:uFillTx/>
                <a:latin typeface="Calibri" pitchFamily="34" charset="0"/>
                <a:ea typeface="Calibri" pitchFamily="34" charset="-122"/>
                <a:cs typeface="Calibri" pitchFamily="34" charset="-120"/>
              </a:rPr>
              <a:t>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325880" y="841248"/>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E27"/>
                </a:solidFill>
                <a:effectLst/>
                <a:uLnTx/>
                <a:uFillTx/>
                <a:latin typeface="Cambria" pitchFamily="34" charset="0"/>
                <a:ea typeface="Cambria" pitchFamily="34" charset="-122"/>
                <a:cs typeface="Cambria" pitchFamily="34" charset="-120"/>
              </a:rPr>
              <a:t>Finding the root cause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822960" y="1691640"/>
            <a:ext cx="10607040" cy="82296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Rather than jumping straight to “they need a tutor” or “they need to practise more,” a little observation first usually points you toward a much better solution.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868680" y="2551176"/>
            <a:ext cx="10424160" cy="3849624"/>
          </a:xfrm>
          <a:prstGeom prst="rect">
            <a:avLst/>
          </a:prstGeom>
          <a:noFill/>
          <a:ln/>
        </p:spPr>
        <p:txBody>
          <a:bodyPr wrap="square" lIns="0" tIns="0" rIns="0" bIns="0" rtlCol="0" anchor="t"/>
          <a:lstStyle/>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When did the struggle actually begin, from the start, or at a certain point?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What kind of instruction do they struggle with most, verbal or written?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Do they say “I don't understand” (a foundation gap) or “I'm bored” (a style mismatch)?</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384048"/>
            <a:ext cx="594360" cy="594360"/>
          </a:xfrm>
          <a:prstGeom prst="ellipse">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0" descr="/home/claude/begin_deck/icons/clipboardList.png"/>
          <p:cNvPicPr>
            <a:picLocks noChangeAspect="1"/>
          </p:cNvPicPr>
          <p:nvPr/>
        </p:nvPicPr>
        <p:blipFill>
          <a:blip r:embed="rId3"/>
          <a:stretch>
            <a:fillRect/>
          </a:stretch>
        </p:blipFill>
        <p:spPr>
          <a:xfrm>
            <a:off x="658368" y="539496"/>
            <a:ext cx="283464" cy="283464"/>
          </a:xfrm>
          <a:prstGeom prst="rect">
            <a:avLst/>
          </a:prstGeom>
        </p:spPr>
      </p:pic>
      <p:sp>
        <p:nvSpPr>
          <p:cNvPr id="5" name="Text 2"/>
          <p:cNvSpPr/>
          <p:nvPr/>
        </p:nvSpPr>
        <p:spPr>
          <a:xfrm>
            <a:off x="1280160" y="365760"/>
            <a:ext cx="9144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FFFF"/>
                </a:solidFill>
                <a:effectLst/>
                <a:uLnTx/>
                <a:uFillTx/>
                <a:latin typeface="Calibri" pitchFamily="34" charset="0"/>
                <a:ea typeface="Calibri" pitchFamily="34" charset="-122"/>
                <a:cs typeface="Calibri" pitchFamily="34" charset="-120"/>
              </a:rPr>
              <a:t>WORKSHEET  ·  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1280160" y="621792"/>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Root cause observation worksheet</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822960" y="1600200"/>
            <a:ext cx="10515600" cy="5486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Observe over a week rather than a single session, patterns matter more than one bad day.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822960" y="2331720"/>
            <a:ext cx="104241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What subject or task do they avoid most, and when did that start?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822960" y="2788920"/>
            <a:ext cx="10424160" cy="0"/>
          </a:xfrm>
          <a:prstGeom prst="line">
            <a:avLst/>
          </a:prstGeom>
          <a:noFill/>
          <a:ln w="12700">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822960" y="3017520"/>
            <a:ext cx="104241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What do they say when stuck, “I don't understand,” “I'm bored,” or something else?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822960" y="3474720"/>
            <a:ext cx="10424160" cy="0"/>
          </a:xfrm>
          <a:prstGeom prst="line">
            <a:avLst/>
          </a:prstGeom>
          <a:noFill/>
          <a:ln w="12700">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822960" y="3703320"/>
            <a:ext cx="104241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What time of day do they focus best, and does that match when we usually study?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822960" y="4160520"/>
            <a:ext cx="10424160" cy="0"/>
          </a:xfrm>
          <a:prstGeom prst="line">
            <a:avLst/>
          </a:prstGeom>
          <a:noFill/>
          <a:ln w="12700">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822960" y="4389120"/>
            <a:ext cx="104241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24A2F"/>
                </a:solidFill>
                <a:effectLst/>
                <a:uLnTx/>
                <a:uFillTx/>
                <a:latin typeface="Calibri" pitchFamily="34" charset="0"/>
                <a:ea typeface="Calibri" pitchFamily="34" charset="-122"/>
                <a:cs typeface="Calibri" pitchFamily="34" charset="-120"/>
              </a:rPr>
              <a:t>Is this showing up only at home, only at school, or both?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822960" y="4846320"/>
            <a:ext cx="10424160" cy="0"/>
          </a:xfrm>
          <a:prstGeom prst="line">
            <a:avLst/>
          </a:prstGeom>
          <a:noFill/>
          <a:ln w="12700">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594360" cy="59436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home/claude/begin_deck/icons/hands.png"/>
          <p:cNvPicPr>
            <a:picLocks noChangeAspect="1"/>
          </p:cNvPicPr>
          <p:nvPr/>
        </p:nvPicPr>
        <p:blipFill>
          <a:blip r:embed="rId3"/>
          <a:stretch>
            <a:fillRect/>
          </a:stretch>
        </p:blipFill>
        <p:spPr>
          <a:xfrm>
            <a:off x="713232" y="713232"/>
            <a:ext cx="274320" cy="274320"/>
          </a:xfrm>
          <a:prstGeom prst="rect">
            <a:avLst/>
          </a:prstGeom>
        </p:spPr>
      </p:pic>
      <p:sp>
        <p:nvSpPr>
          <p:cNvPr id="4" name="Text 1"/>
          <p:cNvSpPr/>
          <p:nvPr/>
        </p:nvSpPr>
        <p:spPr>
          <a:xfrm>
            <a:off x="1325880" y="566928"/>
            <a:ext cx="9601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24A2F"/>
                </a:solidFill>
                <a:effectLst/>
                <a:uLnTx/>
                <a:uFillTx/>
                <a:latin typeface="Calibri" pitchFamily="34" charset="0"/>
                <a:ea typeface="Calibri" pitchFamily="34" charset="-122"/>
                <a:cs typeface="Calibri" pitchFamily="34" charset="-120"/>
              </a:rPr>
              <a:t>ISSUE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325880" y="841248"/>
            <a:ext cx="10241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E27"/>
                </a:solidFill>
                <a:effectLst/>
                <a:uLnTx/>
                <a:uFillTx/>
                <a:latin typeface="Cambria" pitchFamily="34" charset="0"/>
                <a:ea typeface="Cambria" pitchFamily="34" charset="-122"/>
                <a:cs typeface="Cambria" pitchFamily="34" charset="-120"/>
              </a:rPr>
              <a:t>Partnering effectively with a tutor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822960" y="1691640"/>
            <a:ext cx="10607040" cy="82296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Rather than only asking whether your child is struggling, it helps to ask more specific questions that reveal the actual pattern.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868680" y="2551176"/>
            <a:ext cx="10424160" cy="3849624"/>
          </a:xfrm>
          <a:prstGeom prst="rect">
            <a:avLst/>
          </a:prstGeom>
          <a:noFill/>
          <a:ln/>
        </p:spPr>
        <p:txBody>
          <a:bodyPr wrap="square" lIns="0" tIns="0" rIns="0" bIns="0" rtlCol="0" anchor="t"/>
          <a:lstStyle/>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“What does my child do when they get confused?”</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“What pattern have you noticed in how they work?”</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1000"/>
              </a:spcAft>
              <a:buClrTx/>
              <a:buSzPct val="100000"/>
              <a:buFontTx/>
              <a:buChar char="•"/>
              <a:tabLst/>
              <a:defRPr/>
            </a:pPr>
            <a:r>
              <a:rPr kumimoji="0" lang="en-US" sz="145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“What seems to help them engage better?”</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457200" y="651052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Module 1 · The Begin Right Approach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074152" y="6510528"/>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E68"/>
                </a:solidFill>
                <a:effectLst/>
                <a:uLnTx/>
                <a:uFillTx/>
                <a:latin typeface="Calibri" pitchFamily="34" charset="0"/>
                <a:ea typeface="Calibri" pitchFamily="34" charset="-122"/>
                <a:cs typeface="Calibri" pitchFamily="34" charset="-120"/>
              </a:rPr>
              <a:t>Jedon 11+ Learning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EAE5"/>
        </a:solidFill>
        <a:effectLst/>
      </p:bgPr>
    </p:bg>
    <p:spTree>
      <p:nvGrpSpPr>
        <p:cNvPr id="1" name=""/>
        <p:cNvGrpSpPr/>
        <p:nvPr/>
      </p:nvGrpSpPr>
      <p:grpSpPr>
        <a:xfrm>
          <a:off x="0" y="0"/>
          <a:ext cx="0" cy="0"/>
          <a:chOff x="0" y="0"/>
          <a:chExt cx="0" cy="0"/>
        </a:xfrm>
      </p:grpSpPr>
      <p:sp>
        <p:nvSpPr>
          <p:cNvPr id="2" name="Shape 0"/>
          <p:cNvSpPr/>
          <p:nvPr/>
        </p:nvSpPr>
        <p:spPr>
          <a:xfrm>
            <a:off x="640080" y="685800"/>
            <a:ext cx="914400" cy="914400"/>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713232"/>
            <a:ext cx="914400" cy="8686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I</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783080" y="822960"/>
            <a:ext cx="9144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A2E27"/>
                </a:solidFill>
                <a:effectLst/>
                <a:uLnTx/>
                <a:uFillTx/>
                <a:latin typeface="Cambria" pitchFamily="34" charset="0"/>
                <a:ea typeface="Cambria" pitchFamily="34" charset="-122"/>
                <a:cs typeface="Cambria" pitchFamily="34" charset="-120"/>
              </a:rPr>
              <a:t>In conclusion…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2020824"/>
            <a:ext cx="201168" cy="201168"/>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234440" y="1938528"/>
            <a:ext cx="9966960" cy="5486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A learning gap is a starting point for understanding, not a label.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822960" y="2798064"/>
            <a:ext cx="201168" cy="201168"/>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1234440" y="2715768"/>
            <a:ext cx="9966960" cy="5486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Good grades don't always mean deep understanding, look beyond the score.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822960" y="3575304"/>
            <a:ext cx="201168" cy="201168"/>
          </a:xfrm>
          <a:prstGeom prst="ellipse">
            <a:avLst/>
          </a:prstGeom>
          <a:solidFill>
            <a:srgbClr val="C24A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1234440" y="3493008"/>
            <a:ext cx="9966960" cy="54864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A2E27"/>
                </a:solidFill>
                <a:effectLst/>
                <a:uLnTx/>
                <a:uFillTx/>
                <a:latin typeface="Calibri" pitchFamily="34" charset="0"/>
                <a:ea typeface="Calibri" pitchFamily="34" charset="-122"/>
                <a:cs typeface="Calibri" pitchFamily="34" charset="-120"/>
              </a:rPr>
              <a:t>Observe before you intervene, the right solution depends on the real root cause.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921</Words>
  <Application>Microsoft Office PowerPoint</Application>
  <PresentationFormat>Widescreen</PresentationFormat>
  <Paragraphs>95</Paragraphs>
  <Slides>12</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Aptos</vt:lpstr>
      <vt:lpstr>Aptos Display</vt:lpstr>
      <vt:lpstr>Arial</vt:lpstr>
      <vt:lpstr>Calibri</vt:lpstr>
      <vt:lpstr>Cambria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Esosa Ikolo</dc:creator>
  <cp:lastModifiedBy>Esosa Ikolo</cp:lastModifiedBy>
  <cp:revision>1</cp:revision>
  <dcterms:created xsi:type="dcterms:W3CDTF">2026-09-11T22:14:55Z</dcterms:created>
  <dcterms:modified xsi:type="dcterms:W3CDTF">2026-09-11T22:16:34Z</dcterms:modified>
</cp:coreProperties>
</file>