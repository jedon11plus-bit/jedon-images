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6"/>
  </p:notesMasterIdLst>
  <p:sldIdLst>
    <p:sldId id="256" r:id="rId3"/>
    <p:sldId id="308" r:id="rId4"/>
    <p:sldId id="309" r:id="rId5"/>
    <p:sldId id="258" r:id="rId6"/>
    <p:sldId id="310" r:id="rId7"/>
    <p:sldId id="311" r:id="rId8"/>
    <p:sldId id="312" r:id="rId9"/>
    <p:sldId id="313" r:id="rId10"/>
    <p:sldId id="314" r:id="rId11"/>
    <p:sldId id="315" r:id="rId12"/>
    <p:sldId id="316" r:id="rId13"/>
    <p:sldId id="317" r:id="rId14"/>
    <p:sldId id="31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14795A-D046-459F-B4BE-AA89D9E329AD}" v="7" dt="2026-09-11T22:59:20.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727" autoAdjust="0"/>
  </p:normalViewPr>
  <p:slideViewPr>
    <p:cSldViewPr snapToGrid="0">
      <p:cViewPr varScale="1">
        <p:scale>
          <a:sx n="52" d="100"/>
          <a:sy n="52" d="100"/>
        </p:scale>
        <p:origin x="1228" y="48"/>
      </p:cViewPr>
      <p:guideLst/>
    </p:cSldViewPr>
  </p:slideViewPr>
  <p:notesTextViewPr>
    <p:cViewPr>
      <p:scale>
        <a:sx n="1" d="1"/>
        <a:sy n="1" d="1"/>
      </p:scale>
      <p:origin x="0" y="-1604"/>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sosa Ikolo" userId="e15ed2b287547e14" providerId="LiveId" clId="{90F37D0A-844B-4F06-A634-094CD4C0DEE7}"/>
    <pc:docChg chg="undo custSel addSld modSld">
      <pc:chgData name="Esosa Ikolo" userId="e15ed2b287547e14" providerId="LiveId" clId="{90F37D0A-844B-4F06-A634-094CD4C0DEE7}" dt="2026-09-11T22:59:18.090" v="345" actId="20577"/>
      <pc:docMkLst>
        <pc:docMk/>
      </pc:docMkLst>
      <pc:sldChg chg="addSp modSp add mod setBg">
        <pc:chgData name="Esosa Ikolo" userId="e15ed2b287547e14" providerId="LiveId" clId="{90F37D0A-844B-4F06-A634-094CD4C0DEE7}" dt="2026-09-11T22:51:27.859" v="14" actId="20577"/>
        <pc:sldMkLst>
          <pc:docMk/>
          <pc:sldMk cId="0" sldId="258"/>
        </pc:sldMkLst>
        <pc:spChg chg="add mod">
          <ac:chgData name="Esosa Ikolo" userId="e15ed2b287547e14" providerId="LiveId" clId="{90F37D0A-844B-4F06-A634-094CD4C0DEE7}" dt="2026-09-11T22:51:27.859" v="14" actId="20577"/>
          <ac:spMkLst>
            <pc:docMk/>
            <pc:sldMk cId="0" sldId="258"/>
            <ac:spMk id="11" creationId="{09B4ED08-6FC5-D47A-73CF-AEAF4A2A869C}"/>
          </ac:spMkLst>
        </pc:spChg>
      </pc:sldChg>
      <pc:sldChg chg="addSp delSp mod">
        <pc:chgData name="Esosa Ikolo" userId="e15ed2b287547e14" providerId="LiveId" clId="{90F37D0A-844B-4F06-A634-094CD4C0DEE7}" dt="2026-09-11T22:39:41.237" v="1" actId="22"/>
        <pc:sldMkLst>
          <pc:docMk/>
          <pc:sldMk cId="0" sldId="310"/>
        </pc:sldMkLst>
        <pc:spChg chg="add del">
          <ac:chgData name="Esosa Ikolo" userId="e15ed2b287547e14" providerId="LiveId" clId="{90F37D0A-844B-4F06-A634-094CD4C0DEE7}" dt="2026-09-11T22:39:41.237" v="1" actId="22"/>
          <ac:spMkLst>
            <pc:docMk/>
            <pc:sldMk cId="0" sldId="310"/>
            <ac:spMk id="10" creationId="{8A8E7278-0E92-19C4-2052-AD30D63E199C}"/>
          </ac:spMkLst>
        </pc:spChg>
      </pc:sldChg>
      <pc:sldChg chg="addSp delSp modSp mod modNotesTx">
        <pc:chgData name="Esosa Ikolo" userId="e15ed2b287547e14" providerId="LiveId" clId="{90F37D0A-844B-4F06-A634-094CD4C0DEE7}" dt="2026-09-11T22:59:18.090" v="345" actId="20577"/>
        <pc:sldMkLst>
          <pc:docMk/>
          <pc:sldMk cId="0" sldId="315"/>
        </pc:sldMkLst>
        <pc:spChg chg="mod">
          <ac:chgData name="Esosa Ikolo" userId="e15ed2b287547e14" providerId="LiveId" clId="{90F37D0A-844B-4F06-A634-094CD4C0DEE7}" dt="2026-09-11T22:57:48.334" v="341" actId="20577"/>
          <ac:spMkLst>
            <pc:docMk/>
            <pc:sldMk cId="0" sldId="315"/>
            <ac:spMk id="7" creationId="{00000000-0000-0000-0000-000000000000}"/>
          </ac:spMkLst>
        </pc:spChg>
        <pc:spChg chg="add del">
          <ac:chgData name="Esosa Ikolo" userId="e15ed2b287547e14" providerId="LiveId" clId="{90F37D0A-844B-4F06-A634-094CD4C0DEE7}" dt="2026-09-11T22:58:09.061" v="343" actId="22"/>
          <ac:spMkLst>
            <pc:docMk/>
            <pc:sldMk cId="0" sldId="315"/>
            <ac:spMk id="11" creationId="{B9F1F61A-CA51-5312-FDF1-67FCD6E15A0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A00B95B-75D8-42D0-9650-28B144586316}" type="datetimeFigureOut">
              <a:rPr lang="en-GB" smtClean="0"/>
              <a:t>11/09/2026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14E9EE-B0CC-4B4F-B38A-F0120E456C43}" type="slidenum">
              <a:rPr lang="en-GB" smtClean="0"/>
              <a:t>‹#›</a:t>
            </a:fld>
            <a:endParaRPr lang="en-GB"/>
          </a:p>
        </p:txBody>
      </p:sp>
    </p:spTree>
    <p:extLst>
      <p:ext uri="{BB962C8B-B14F-4D97-AF65-F5344CB8AC3E}">
        <p14:creationId xmlns:p14="http://schemas.microsoft.com/office/powerpoint/2010/main" val="1966918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open with something real rather than jump straight into theory. During my own son's 11+ prep, I was convinced we had a maths problem, he'd add 2 and 2 and get 6, he'd carry a number over and then forget it existed. But every time I asked him to check again, he caught it instantly. That told me it wasn't knowledge, it was carelessness, and that needed a completely different response. That's the whole point of today: knowing what you're actually solving, before you spend your time or money on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Executive function</a:t>
            </a:r>
            <a:r>
              <a:rPr lang="en-GB" dirty="0"/>
              <a:t> refers to the set of mental skills and cognitive processes that act as the brain's "management system." Located primarily in the prefrontal cortex, these skills enable a child to plan, focus attention, remember instructions, organize tasks, and juggle multiple mental demands successfully.</a:t>
            </a:r>
          </a:p>
          <a:p>
            <a:r>
              <a:rPr lang="en-GB" dirty="0"/>
              <a:t>In your slide example ("adding 2 and 2 and getting 6"), your child did not lack mathematical knowledge—they experienced a temporary </a:t>
            </a:r>
            <a:r>
              <a:rPr lang="en-GB" b="1" dirty="0"/>
              <a:t>executive function slip</a:t>
            </a:r>
            <a:r>
              <a:rPr lang="en-GB" dirty="0"/>
              <a:t> (specifically in working memory and inhibitory control).</a:t>
            </a:r>
          </a:p>
          <a:p>
            <a:r>
              <a:rPr lang="en-GB" dirty="0"/>
              <a:t>Recognizing that a mistake is an executive function slip rather than a knowledge gap helps parents target the real issue: teaching structural habits like </a:t>
            </a:r>
            <a:r>
              <a:rPr lang="en-GB" b="1" dirty="0"/>
              <a:t>C.A.P. + Check</a:t>
            </a:r>
            <a:r>
              <a:rPr lang="en-GB" dirty="0"/>
              <a:t> rather than endlessly re-teaching basic arithmetic.</a:t>
            </a:r>
          </a:p>
          <a:p>
            <a:r>
              <a:rPr lang="en-GB" b="1" dirty="0"/>
              <a:t>The 3 Core Pillars of Executive Function</a:t>
            </a:r>
          </a:p>
          <a:p>
            <a:pPr lvl="0"/>
            <a:r>
              <a:rPr lang="en-GB" b="1" dirty="0"/>
              <a:t>Working Memory:</a:t>
            </a:r>
            <a:r>
              <a:rPr lang="en-GB" dirty="0"/>
              <a:t> The ability to hold and process information in mind over short periods without losing track.</a:t>
            </a:r>
          </a:p>
          <a:p>
            <a:pPr lvl="1"/>
            <a:r>
              <a:rPr lang="en-GB" i="1" dirty="0"/>
              <a:t>11+ Impact:</a:t>
            </a:r>
            <a:r>
              <a:rPr lang="en-GB" dirty="0"/>
              <a:t> Remembering a multi-step word problem's instructions while calculating, or keeping track of intermediate numbers in a mentally reversed flowchart.</a:t>
            </a:r>
          </a:p>
          <a:p>
            <a:pPr lvl="0"/>
            <a:r>
              <a:rPr lang="en-GB" b="1" dirty="0"/>
              <a:t>Cognitive Flexibility (Flexible Thinking):</a:t>
            </a:r>
            <a:r>
              <a:rPr lang="en-GB" dirty="0"/>
              <a:t> The ability to switch gears, adapt to changing rules, or look at a problem from a fresh angle when an initial approach fails.</a:t>
            </a:r>
          </a:p>
          <a:p>
            <a:pPr lvl="1"/>
            <a:r>
              <a:rPr lang="en-GB" i="1" dirty="0"/>
              <a:t>11+ Impact:</a:t>
            </a:r>
            <a:r>
              <a:rPr lang="en-GB" dirty="0"/>
              <a:t> Switching between Verbal Reasoning question types (e.g., from synonyms to letter sequences) or shifting strategies when a math model doesn't work out.</a:t>
            </a:r>
          </a:p>
          <a:p>
            <a:pPr lvl="0"/>
            <a:r>
              <a:rPr lang="en-GB" b="1" dirty="0"/>
              <a:t>Inhibitory Control (Self-Control &amp; Impulsivity Management):</a:t>
            </a:r>
            <a:r>
              <a:rPr lang="en-GB" dirty="0"/>
              <a:t> The ability to resist impulsive reactions, ignore distractions, and double-check work carefully.</a:t>
            </a:r>
          </a:p>
          <a:p>
            <a:pPr lvl="1"/>
            <a:r>
              <a:rPr lang="en-GB" i="1"/>
              <a:t>11+ Impact:</a:t>
            </a:r>
            <a:r>
              <a:rPr lang="en-GB"/>
              <a:t> Stopping oneself from jumping to an obvious "trap" answer choice, avoiding rushing, and carrying out the </a:t>
            </a:r>
            <a:r>
              <a:rPr lang="en-GB" b="1"/>
              <a:t>Check / Estimate</a:t>
            </a:r>
            <a:r>
              <a:rPr lang="en-GB"/>
              <a:t> step instead of immediately moving to the next question.</a:t>
            </a:r>
          </a:p>
          <a:p>
            <a:endParaRPr lang="en-GB"/>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71850-3732-133F-B5F5-A453CF4F5B9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FD4D8997-AFAB-0C8E-135C-53F9FA6ED6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E5AE7C4-947D-4CDA-3793-737DCA1FA7BD}"/>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5" name="Footer Placeholder 4">
            <a:extLst>
              <a:ext uri="{FF2B5EF4-FFF2-40B4-BE49-F238E27FC236}">
                <a16:creationId xmlns:a16="http://schemas.microsoft.com/office/drawing/2014/main" id="{5B92C70B-9C43-9DB9-4141-5D9F46AB456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C0C91D6-1629-5065-763D-3777B45BE65A}"/>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38588778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24D63-AD63-DDB5-2F99-DAA26C81AEE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527B1E3-A035-4D52-C5FD-825E597177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6FF255F-BC51-BA25-AD75-8C550B0789A4}"/>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5" name="Footer Placeholder 4">
            <a:extLst>
              <a:ext uri="{FF2B5EF4-FFF2-40B4-BE49-F238E27FC236}">
                <a16:creationId xmlns:a16="http://schemas.microsoft.com/office/drawing/2014/main" id="{5681994D-2E2A-A3E1-1A08-5EDC68EA190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4973205-81F7-71D8-8DBA-DA2EA10B76D2}"/>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20043415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5699A-E504-CD52-633A-17871DB6213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2FE35C3-0290-B770-CE4F-5F72C12BEFB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12398A-9C71-132A-812B-019A7FA7F39F}"/>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5" name="Footer Placeholder 4">
            <a:extLst>
              <a:ext uri="{FF2B5EF4-FFF2-40B4-BE49-F238E27FC236}">
                <a16:creationId xmlns:a16="http://schemas.microsoft.com/office/drawing/2014/main" id="{CC1B8100-7301-296A-2422-939F125001A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853DF1C-3CBD-3824-4AB5-07775621A83B}"/>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3251980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7D33F-4AE7-8560-FCAA-F24AD5E21C8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2E0256D-C2AF-86D1-7181-D3E3EE244A4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68D395E-9089-202E-5290-13185ACC3D9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616A4C5-B4A7-7D2A-2094-4B8A2B4CD65D}"/>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6" name="Footer Placeholder 5">
            <a:extLst>
              <a:ext uri="{FF2B5EF4-FFF2-40B4-BE49-F238E27FC236}">
                <a16:creationId xmlns:a16="http://schemas.microsoft.com/office/drawing/2014/main" id="{5914524C-7F5C-7CEC-5E9F-46EB0895FB9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CBDB29A-ABD8-DB88-BB9B-4D102BE6D708}"/>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29738798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56A2-ECFE-BC6E-5AAB-D7232B98B03D}"/>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C40A7B8-D264-307A-42FE-928B84CBA1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53802A1-23F7-2273-091F-90904A0765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A0954D3-0022-57CF-9E9F-44AEC155A1B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A4E7-DD59-3E0D-0C0C-9B94E62F9B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B9BEB59-DFEA-97E0-834A-1C2157C9F708}"/>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8" name="Footer Placeholder 7">
            <a:extLst>
              <a:ext uri="{FF2B5EF4-FFF2-40B4-BE49-F238E27FC236}">
                <a16:creationId xmlns:a16="http://schemas.microsoft.com/office/drawing/2014/main" id="{EFE73112-656B-52A2-CCFA-BE586110109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E6D8B02-5039-5CBF-D87E-D04FED7D2555}"/>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34437107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CAE6C-EC77-A77C-EB63-3078A04A0219}"/>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E236BD59-2F74-B99C-1E88-31C29CD9A5E4}"/>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4" name="Footer Placeholder 3">
            <a:extLst>
              <a:ext uri="{FF2B5EF4-FFF2-40B4-BE49-F238E27FC236}">
                <a16:creationId xmlns:a16="http://schemas.microsoft.com/office/drawing/2014/main" id="{90E643B4-F509-F654-1CB0-61FEF1B8367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4866D16-774D-2F21-7265-5CB1E1D14DFC}"/>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14115917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966DB4-79C9-DB4E-1E1F-AF29313080DC}"/>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3" name="Footer Placeholder 2">
            <a:extLst>
              <a:ext uri="{FF2B5EF4-FFF2-40B4-BE49-F238E27FC236}">
                <a16:creationId xmlns:a16="http://schemas.microsoft.com/office/drawing/2014/main" id="{8C231DE6-F2B7-88DE-9E95-569AC098BAC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AD309487-B458-D1D7-DCF6-CA0C5E5859FF}"/>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27311347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B883F-8A44-92AA-63E3-BD4A27286F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0B2C2E1-1B00-8D9C-F6A4-605AB77B49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07C2BDEF-6512-8EEE-72F0-36CC0B6732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A196B-C4B3-547D-5313-929818C85DC5}"/>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6" name="Footer Placeholder 5">
            <a:extLst>
              <a:ext uri="{FF2B5EF4-FFF2-40B4-BE49-F238E27FC236}">
                <a16:creationId xmlns:a16="http://schemas.microsoft.com/office/drawing/2014/main" id="{522EB7F4-5ADD-CF9C-A08B-8EC423BEE5E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481C7D1-4D24-BED1-7FEF-7B0C145CC60B}"/>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9374747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0505A-246B-83D4-D036-D30F82C5D5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2A3CA05-1FA3-2311-9098-FA13D04692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065B8B76-9496-8AD5-E58E-F95A432AE4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34FFEF-5A80-4510-3BC3-36481C8DDCAE}"/>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6" name="Footer Placeholder 5">
            <a:extLst>
              <a:ext uri="{FF2B5EF4-FFF2-40B4-BE49-F238E27FC236}">
                <a16:creationId xmlns:a16="http://schemas.microsoft.com/office/drawing/2014/main" id="{22D95439-C6FE-4129-3994-6832C6CB0B0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6AD3996-BB4E-E560-BB60-B77CD137CF76}"/>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2723309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02224-C03D-E9AF-7805-27A1136E4396}"/>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9EE9223-5536-EC4A-3879-9203EC5D54C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8C4BC3-7F27-18F2-BEB0-43920B288E70}"/>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5" name="Footer Placeholder 4">
            <a:extLst>
              <a:ext uri="{FF2B5EF4-FFF2-40B4-BE49-F238E27FC236}">
                <a16:creationId xmlns:a16="http://schemas.microsoft.com/office/drawing/2014/main" id="{5A0C73B0-FA1F-322D-3990-CF44EA0487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8CCDA88-C122-AC61-9201-65A65AA8BA78}"/>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39125695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A0E957E-C10A-78C8-AFB1-540C9571B5F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D80A2DE-348A-C8FA-65C4-AB95D85567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1B06133-010B-8664-4008-6A0E084D4148}"/>
              </a:ext>
            </a:extLst>
          </p:cNvPr>
          <p:cNvSpPr>
            <a:spLocks noGrp="1"/>
          </p:cNvSpPr>
          <p:nvPr>
            <p:ph type="dt" sz="half" idx="10"/>
          </p:nvPr>
        </p:nvSpPr>
        <p:spPr/>
        <p:txBody>
          <a:bodyPr/>
          <a:lstStyle/>
          <a:p>
            <a:fld id="{80A556D3-D357-43D8-89F1-CFABACAF3973}" type="datetimeFigureOut">
              <a:rPr lang="en-GB" smtClean="0"/>
              <a:t>11/09/2026</a:t>
            </a:fld>
            <a:endParaRPr lang="en-GB"/>
          </a:p>
        </p:txBody>
      </p:sp>
      <p:sp>
        <p:nvSpPr>
          <p:cNvPr id="5" name="Footer Placeholder 4">
            <a:extLst>
              <a:ext uri="{FF2B5EF4-FFF2-40B4-BE49-F238E27FC236}">
                <a16:creationId xmlns:a16="http://schemas.microsoft.com/office/drawing/2014/main" id="{AA1DDFE7-F680-23E3-CCD9-060F5CA172D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5277150-1C01-7F88-BC8B-68E418FA8DC9}"/>
              </a:ext>
            </a:extLst>
          </p:cNvPr>
          <p:cNvSpPr>
            <a:spLocks noGrp="1"/>
          </p:cNvSpPr>
          <p:nvPr>
            <p:ph type="sldNum" sz="quarter" idx="12"/>
          </p:nvPr>
        </p:nvSpPr>
        <p:spPr/>
        <p:txBody>
          <a:bodyPr/>
          <a:lstStyle/>
          <a:p>
            <a:fld id="{0C09FBFF-2422-4F99-BB67-4315F4911856}" type="slidenum">
              <a:rPr lang="en-GB" smtClean="0"/>
              <a:t>‹#›</a:t>
            </a:fld>
            <a:endParaRPr lang="en-GB"/>
          </a:p>
        </p:txBody>
      </p:sp>
    </p:spTree>
    <p:extLst>
      <p:ext uri="{BB962C8B-B14F-4D97-AF65-F5344CB8AC3E}">
        <p14:creationId xmlns:p14="http://schemas.microsoft.com/office/powerpoint/2010/main" val="13631358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50854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5234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4C04FC-4E12-2F74-4298-C72F4FF8B8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78FE3B3-1FA6-B890-B196-A449704F7D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1A95AAB-EAE6-F4D4-79D7-E64D6250358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0A556D3-D357-43D8-89F1-CFABACAF3973}" type="datetimeFigureOut">
              <a:rPr lang="en-GB" smtClean="0"/>
              <a:t>11/09/2026</a:t>
            </a:fld>
            <a:endParaRPr lang="en-GB"/>
          </a:p>
        </p:txBody>
      </p:sp>
      <p:sp>
        <p:nvSpPr>
          <p:cNvPr id="5" name="Footer Placeholder 4">
            <a:extLst>
              <a:ext uri="{FF2B5EF4-FFF2-40B4-BE49-F238E27FC236}">
                <a16:creationId xmlns:a16="http://schemas.microsoft.com/office/drawing/2014/main" id="{F4457EF4-6806-6877-4D9D-4F678B32C5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9623FF1D-4BBB-2B9A-517F-BDA50FEF8A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C09FBFF-2422-4F99-BB67-4315F4911856}" type="slidenum">
              <a:rPr lang="en-GB" smtClean="0"/>
              <a:t>‹#›</a:t>
            </a:fld>
            <a:endParaRPr lang="en-GB"/>
          </a:p>
        </p:txBody>
      </p:sp>
    </p:spTree>
    <p:extLst>
      <p:ext uri="{BB962C8B-B14F-4D97-AF65-F5344CB8AC3E}">
        <p14:creationId xmlns:p14="http://schemas.microsoft.com/office/powerpoint/2010/main" val="16806769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0032638"/>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E0CE4-7DB1-B44C-4790-59E77175262A}"/>
              </a:ext>
            </a:extLst>
          </p:cNvPr>
          <p:cNvSpPr>
            <a:spLocks noGrp="1"/>
          </p:cNvSpPr>
          <p:nvPr>
            <p:ph type="ctrTitle"/>
          </p:nvPr>
        </p:nvSpPr>
        <p:spPr/>
        <p:txBody>
          <a:bodyPr/>
          <a:lstStyle/>
          <a:p>
            <a:endParaRPr lang="en-GB"/>
          </a:p>
        </p:txBody>
      </p:sp>
      <p:sp>
        <p:nvSpPr>
          <p:cNvPr id="3" name="Subtitle 2">
            <a:extLst>
              <a:ext uri="{FF2B5EF4-FFF2-40B4-BE49-F238E27FC236}">
                <a16:creationId xmlns:a16="http://schemas.microsoft.com/office/drawing/2014/main" id="{5B940F25-23ED-DA5D-977B-B593EC97C90E}"/>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4300517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24A2F"/>
        </a:solidFill>
        <a:effectLst/>
      </p:bgPr>
    </p:bg>
    <p:spTree>
      <p:nvGrpSpPr>
        <p:cNvPr id="1" name=""/>
        <p:cNvGrpSpPr/>
        <p:nvPr/>
      </p:nvGrpSpPr>
      <p:grpSpPr>
        <a:xfrm>
          <a:off x="0" y="0"/>
          <a:ext cx="0" cy="0"/>
          <a:chOff x="0" y="0"/>
          <a:chExt cx="0" cy="0"/>
        </a:xfrm>
      </p:grpSpPr>
      <p:sp>
        <p:nvSpPr>
          <p:cNvPr id="2" name="Shape 0"/>
          <p:cNvSpPr/>
          <p:nvPr/>
        </p:nvSpPr>
        <p:spPr>
          <a:xfrm>
            <a:off x="9875520" y="4206240"/>
            <a:ext cx="4572000" cy="4572000"/>
          </a:xfrm>
          <a:prstGeom prst="ellipse">
            <a:avLst/>
          </a:prstGeom>
          <a:solidFill>
            <a:srgbClr val="FFFFFF">
              <a:alpha val="12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828800" y="-1828800"/>
            <a:ext cx="4114800" cy="4114800"/>
          </a:xfrm>
          <a:prstGeom prst="ellipse">
            <a:avLst/>
          </a:prstGeom>
          <a:solidFill>
            <a:srgbClr val="FFFFFF">
              <a:alpha val="12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ext 2"/>
          <p:cNvSpPr/>
          <p:nvPr/>
        </p:nvSpPr>
        <p:spPr>
          <a:xfrm>
            <a:off x="822960" y="1188720"/>
            <a:ext cx="2743200" cy="1463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0" b="1" i="0" u="none" strike="noStrike" kern="1200" cap="none" spc="0" normalizeH="0" baseline="0" noProof="0" dirty="0">
                <a:ln>
                  <a:noFill/>
                </a:ln>
                <a:solidFill>
                  <a:srgbClr val="FFFFFF">
                    <a:alpha val="82000"/>
                  </a:srgbClr>
                </a:solidFill>
                <a:effectLst/>
                <a:uLnTx/>
                <a:uFillTx/>
                <a:latin typeface="Cambria" pitchFamily="34" charset="0"/>
                <a:ea typeface="Cambria" pitchFamily="34" charset="-122"/>
                <a:cs typeface="Cambria" pitchFamily="34" charset="-120"/>
              </a:rPr>
              <a:t>04</a:t>
            </a:r>
            <a:endParaRPr kumimoji="0" lang="en-US" sz="9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868680" y="2788920"/>
            <a:ext cx="2743200" cy="1828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I</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3566160" y="3063240"/>
            <a:ext cx="786384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0" cap="none" spc="200" normalizeH="0" baseline="0" noProof="0" dirty="0">
                <a:ln>
                  <a:noFill/>
                </a:ln>
                <a:solidFill>
                  <a:srgbClr val="FFFFFF"/>
                </a:solidFill>
                <a:effectLst/>
                <a:uLnTx/>
                <a:uFillTx/>
                <a:latin typeface="Calibri" pitchFamily="34" charset="0"/>
                <a:ea typeface="Calibri" pitchFamily="34" charset="-122"/>
                <a:cs typeface="Calibri" pitchFamily="34" charset="-120"/>
              </a:rPr>
              <a:t>ISSUE</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3611880" y="3977640"/>
            <a:ext cx="7680960" cy="914400"/>
          </a:xfrm>
          <a:prstGeom prst="rect">
            <a:avLst/>
          </a:prstGeom>
          <a:noFill/>
          <a:ln/>
        </p:spPr>
        <p:txBody>
          <a:bodyPr wrap="square" lIns="0" tIns="0" rIns="0" bIns="0" rtlCol="0" anchor="ctr"/>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Spotting the real gap behind a struggle, instead of guessing at solutions.</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puzzle.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What is a learning gap?</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822960" y="1691640"/>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learning gap is simply the space between what your child currently knows and what they need to know to move forward. It's a signal, not a verdict, it doesn't define your child, and it isn't fixed.</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822960" y="2414016"/>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Gaps can be visible (low grades, obvious difficulty) or hidden, especially in high-performing children who look fine on paper but quietly struggle to comprehend or cope with something new.</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rtlCol="0" anchor="ctr"/>
          <a:lstStyle/>
          <a:p>
            <a:pPr marL="0" indent="0">
              <a:buNone/>
            </a:pPr>
            <a:r>
              <a:rPr lang="en-US" sz="1100" b="1" kern="0" spc="200" dirty="0">
                <a:solidFill>
                  <a:srgbClr val="FF7451"/>
                </a:solidFill>
                <a:latin typeface="Calibri" pitchFamily="34" charset="0"/>
                <a:ea typeface="Calibri" pitchFamily="34" charset="-122"/>
                <a:cs typeface="Calibri" pitchFamily="34" charset="-120"/>
              </a:rPr>
              <a:t>WHY THIS WEBINAR</a:t>
            </a:r>
            <a:endParaRPr lang="en-US" sz="1100" dirty="0"/>
          </a:p>
        </p:txBody>
      </p:sp>
      <p:sp>
        <p:nvSpPr>
          <p:cNvPr id="3" name="Text 1"/>
          <p:cNvSpPr txBox="1"/>
          <p:nvPr/>
        </p:nvSpPr>
        <p:spPr>
          <a:xfrm>
            <a:off x="548640" y="621792"/>
            <a:ext cx="11064240" cy="777240"/>
          </a:xfrm>
          <a:prstGeom prst="rect">
            <a:avLst/>
          </a:prstGeom>
          <a:noFill/>
          <a:ln/>
        </p:spPr>
        <p:txBody>
          <a:bodyPr wrap="square" rtlCol="0" anchor="ctr"/>
          <a:lstStyle/>
          <a:p>
            <a:pPr marL="0" indent="0">
              <a:buNone/>
            </a:pPr>
            <a:r>
              <a:rPr lang="en-US" sz="2700" b="1" dirty="0">
                <a:solidFill>
                  <a:srgbClr val="1F7F78"/>
                </a:solidFill>
                <a:latin typeface="Cambria" pitchFamily="34" charset="0"/>
                <a:ea typeface="Cambria" pitchFamily="34" charset="-122"/>
                <a:cs typeface="Cambria" pitchFamily="34" charset="-120"/>
              </a:rPr>
              <a:t>“He Could Add 2 and 2 and Get 6”</a:t>
            </a:r>
            <a:endParaRPr lang="en-US" sz="2700" dirty="0"/>
          </a:p>
        </p:txBody>
      </p:sp>
      <p:sp>
        <p:nvSpPr>
          <p:cNvPr id="4" name="Text 2"/>
          <p:cNvSpPr txBox="1"/>
          <p:nvPr/>
        </p:nvSpPr>
        <p:spPr>
          <a:xfrm>
            <a:off x="640080" y="1600200"/>
            <a:ext cx="10881360" cy="457200"/>
          </a:xfrm>
          <a:prstGeom prst="rect">
            <a:avLst/>
          </a:prstGeom>
          <a:noFill/>
          <a:ln/>
        </p:spPr>
        <p:txBody>
          <a:bodyPr wrap="square" rtlCol="0" anchor="ctr"/>
          <a:lstStyle/>
          <a:p>
            <a:pPr marL="0" indent="0">
              <a:buNone/>
            </a:pPr>
            <a:r>
              <a:rPr lang="en-US" sz="1500" i="1" dirty="0">
                <a:solidFill>
                  <a:srgbClr val="5B6A64"/>
                </a:solidFill>
                <a:latin typeface="Calibri" pitchFamily="34" charset="0"/>
                <a:ea typeface="Calibri" pitchFamily="34" charset="-122"/>
                <a:cs typeface="Calibri" pitchFamily="34" charset="-120"/>
              </a:rPr>
              <a:t>A quick story before we start.</a:t>
            </a:r>
            <a:endParaRPr lang="en-US" sz="1500" dirty="0"/>
          </a:p>
        </p:txBody>
      </p:sp>
      <p:sp>
        <p:nvSpPr>
          <p:cNvPr id="5" name="Text 3"/>
          <p:cNvSpPr txBox="1"/>
          <p:nvPr/>
        </p:nvSpPr>
        <p:spPr>
          <a:xfrm>
            <a:off x="640080" y="2103120"/>
            <a:ext cx="10881360" cy="1371600"/>
          </a:xfrm>
          <a:prstGeom prst="rect">
            <a:avLst/>
          </a:prstGeom>
          <a:noFill/>
          <a:ln/>
        </p:spPr>
        <p:txBody>
          <a:bodyPr wrap="square" rtlCol="0" anchor="ctr"/>
          <a:lstStyle/>
          <a:p>
            <a:pPr marL="0" indent="0">
              <a:lnSpc>
                <a:spcPct val="130000"/>
              </a:lnSpc>
              <a:buNone/>
            </a:pPr>
            <a:r>
              <a:rPr lang="en-US" sz="1600" dirty="0">
                <a:solidFill>
                  <a:srgbClr val="22302C"/>
                </a:solidFill>
                <a:latin typeface="Calibri" pitchFamily="34" charset="0"/>
                <a:ea typeface="Calibri" pitchFamily="34" charset="-122"/>
                <a:cs typeface="Calibri" pitchFamily="34" charset="-120"/>
              </a:rPr>
              <a:t>During my own son's 11+ prep, I was convinced we had a maths problem. He'd add 2 and 2 and somehow get 6. He'd carry a number over, write it neatly below the line, then completely forget it existed. I told him to double check his work. The mistakes kept coming.</a:t>
            </a:r>
            <a:endParaRPr lang="en-US" sz="1600" dirty="0"/>
          </a:p>
        </p:txBody>
      </p:sp>
      <p:sp>
        <p:nvSpPr>
          <p:cNvPr id="6" name="Shape 4"/>
          <p:cNvSpPr/>
          <p:nvPr/>
        </p:nvSpPr>
        <p:spPr>
          <a:xfrm>
            <a:off x="640080" y="3657600"/>
            <a:ext cx="10881360" cy="1371600"/>
          </a:xfrm>
          <a:prstGeom prst="roundRect">
            <a:avLst>
              <a:gd name="adj" fmla="val 6667"/>
            </a:avLst>
          </a:prstGeom>
          <a:solidFill>
            <a:srgbClr val="E5F5F4"/>
          </a:solidFill>
          <a:ln w="19050">
            <a:solidFill>
              <a:srgbClr val="1F7F78"/>
            </a:solidFill>
            <a:prstDash val="solid"/>
          </a:ln>
        </p:spPr>
        <p:txBody>
          <a:bodyPr/>
          <a:lstStyle/>
          <a:p>
            <a:endParaRPr lang="en-GB"/>
          </a:p>
        </p:txBody>
      </p:sp>
      <p:sp>
        <p:nvSpPr>
          <p:cNvPr id="7" name="Text 5"/>
          <p:cNvSpPr txBox="1"/>
          <p:nvPr/>
        </p:nvSpPr>
        <p:spPr>
          <a:xfrm>
            <a:off x="960120" y="3840480"/>
            <a:ext cx="10241280" cy="1051560"/>
          </a:xfrm>
          <a:prstGeom prst="rect">
            <a:avLst/>
          </a:prstGeom>
          <a:noFill/>
          <a:ln/>
        </p:spPr>
        <p:txBody>
          <a:bodyPr wrap="square" lIns="0" tIns="0" rIns="0" bIns="0" rtlCol="0" anchor="ctr"/>
          <a:lstStyle/>
          <a:p>
            <a:pPr marL="0" indent="0">
              <a:lnSpc>
                <a:spcPct val="125000"/>
              </a:lnSpc>
              <a:buNone/>
            </a:pPr>
            <a:r>
              <a:rPr lang="en-US" sz="1450" i="1" dirty="0">
                <a:solidFill>
                  <a:srgbClr val="1F7F78"/>
                </a:solidFill>
                <a:latin typeface="Calibri" pitchFamily="34" charset="0"/>
                <a:ea typeface="Calibri" pitchFamily="34" charset="-122"/>
                <a:cs typeface="Calibri" pitchFamily="34" charset="-120"/>
              </a:rPr>
              <a:t>Here's what convinced me it wasn't a knowledge problem: every single time I asked him to look again, he spotted the error instantly. That told me everything. It wasn't a maths skills gap. It was carelessness, and that needed a completely different fix.</a:t>
            </a:r>
            <a:endParaRPr lang="en-US" sz="1450" dirty="0"/>
          </a:p>
        </p:txBody>
      </p:sp>
      <p:sp>
        <p:nvSpPr>
          <p:cNvPr id="8" name="Text 6"/>
          <p:cNvSpPr txBox="1"/>
          <p:nvPr/>
        </p:nvSpPr>
        <p:spPr>
          <a:xfrm>
            <a:off x="640080" y="5257800"/>
            <a:ext cx="10881360" cy="914400"/>
          </a:xfrm>
          <a:prstGeom prst="rect">
            <a:avLst/>
          </a:prstGeom>
          <a:noFill/>
          <a:ln/>
        </p:spPr>
        <p:txBody>
          <a:bodyPr wrap="square" rtlCol="0" anchor="ctr"/>
          <a:lstStyle/>
          <a:p>
            <a:pPr marL="0" indent="0">
              <a:lnSpc>
                <a:spcPct val="130000"/>
              </a:lnSpc>
              <a:buNone/>
            </a:pPr>
            <a:r>
              <a:rPr lang="en-US" sz="1600" b="1" i="1" dirty="0">
                <a:solidFill>
                  <a:srgbClr val="1F7F78"/>
                </a:solidFill>
                <a:latin typeface="Cambria" pitchFamily="34" charset="0"/>
                <a:ea typeface="Cambria" pitchFamily="34" charset="-122"/>
                <a:cs typeface="Cambria" pitchFamily="34" charset="-120"/>
              </a:rPr>
              <a:t>That's exactly what today is about: not just buying resources and building a timetable, but knowing what you're actually solving for before you spend a single hour or pound on it.</a:t>
            </a:r>
            <a:endParaRPr lang="en-US" sz="1600" dirty="0"/>
          </a:p>
        </p:txBody>
      </p:sp>
      <p:sp>
        <p:nvSpPr>
          <p:cNvPr id="9" name="Text 7"/>
          <p:cNvSpPr txBox="1"/>
          <p:nvPr/>
        </p:nvSpPr>
        <p:spPr>
          <a:xfrm>
            <a:off x="11612880" y="6446520"/>
            <a:ext cx="457200" cy="320040"/>
          </a:xfrm>
          <a:prstGeom prst="rect">
            <a:avLst/>
          </a:prstGeom>
          <a:noFill/>
          <a:ln/>
        </p:spPr>
        <p:txBody>
          <a:bodyPr wrap="square" rtlCol="0" anchor="ctr"/>
          <a:lstStyle/>
          <a:p>
            <a:pPr marL="0" indent="0" algn="r">
              <a:buNone/>
            </a:pPr>
            <a:r>
              <a:rPr lang="en-US" sz="1000" dirty="0">
                <a:solidFill>
                  <a:srgbClr val="5B6A64"/>
                </a:solidFill>
                <a:latin typeface="Calibri" pitchFamily="34" charset="0"/>
                <a:ea typeface="Calibri" pitchFamily="34" charset="-122"/>
                <a:cs typeface="Calibri" pitchFamily="34" charset="-120"/>
              </a:rPr>
              <a:t>3</a:t>
            </a:r>
            <a:endParaRPr lang="en-US" sz="1000" dirty="0"/>
          </a:p>
        </p:txBody>
      </p:sp>
      <p:sp>
        <p:nvSpPr>
          <p:cNvPr id="11" name="TextBox 10">
            <a:extLst>
              <a:ext uri="{FF2B5EF4-FFF2-40B4-BE49-F238E27FC236}">
                <a16:creationId xmlns:a16="http://schemas.microsoft.com/office/drawing/2014/main" id="{09B4ED08-6FC5-D47A-73CF-AEAF4A2A869C}"/>
              </a:ext>
            </a:extLst>
          </p:cNvPr>
          <p:cNvSpPr txBox="1"/>
          <p:nvPr/>
        </p:nvSpPr>
        <p:spPr>
          <a:xfrm>
            <a:off x="5743422" y="44792"/>
            <a:ext cx="6098058" cy="2585323"/>
          </a:xfrm>
          <a:prstGeom prst="rect">
            <a:avLst/>
          </a:prstGeom>
          <a:noFill/>
        </p:spPr>
        <p:txBody>
          <a:bodyPr wrap="square">
            <a:spAutoFit/>
          </a:bodyPr>
          <a:lstStyle/>
          <a:p>
            <a:pPr>
              <a:buNone/>
            </a:pPr>
            <a:r>
              <a:rPr lang="en-GB" b="1" dirty="0"/>
              <a:t>How Executive Function Relates </a:t>
            </a:r>
            <a:r>
              <a:rPr lang="en-GB" b="1"/>
              <a:t>to this </a:t>
            </a:r>
            <a:r>
              <a:rPr lang="en-GB" b="1" dirty="0"/>
              <a:t>Slide Story</a:t>
            </a:r>
          </a:p>
          <a:p>
            <a:pPr>
              <a:buNone/>
            </a:pPr>
            <a:r>
              <a:rPr lang="en-GB" dirty="0"/>
              <a:t>In this slide example ("adding 2 and 2 and getting 6"), my child did not lack mathematical knowledge—they experienced a temporary </a:t>
            </a:r>
            <a:r>
              <a:rPr lang="en-GB" b="1" dirty="0"/>
              <a:t>executive function slip</a:t>
            </a:r>
            <a:r>
              <a:rPr lang="en-GB" dirty="0"/>
              <a:t> (specifically in working memory and inhibitory control).</a:t>
            </a:r>
          </a:p>
          <a:p>
            <a:pPr>
              <a:buNone/>
            </a:pPr>
            <a:r>
              <a:rPr lang="en-GB" dirty="0"/>
              <a:t>Recognizing that a mistake is an executive function slip rather than a knowledge gap helps parents target the real issue: teaching structural habits like </a:t>
            </a:r>
            <a:r>
              <a:rPr lang="en-GB" b="1" dirty="0"/>
              <a:t>C.A.P. + Check</a:t>
            </a:r>
            <a:r>
              <a:rPr lang="en-GB" dirty="0"/>
              <a:t> rather than endlessly re-teaching basic arithmetic.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balance.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Why good grades can mislead</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868680" y="1828800"/>
            <a:ext cx="10424160" cy="4572000"/>
          </a:xfrm>
          <a:prstGeom prst="rect">
            <a:avLst/>
          </a:prstGeom>
          <a:noFill/>
          <a:ln/>
        </p:spPr>
        <p:txBody>
          <a:bodyPr wrap="square" lIns="0" tIns="0" rIns="0" bIns="0" rtlCol="0" anchor="t"/>
          <a:lstStyle/>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child can reproduce information correctly without truly understanding it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child can score well while comprehending only shallowly</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child can excel in one area and struggle significantly in another, due to a specific skills gap</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child can pass every school test and still not feel equipped to learn independently</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search.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The layers behind a learning gap</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612648" y="1737360"/>
            <a:ext cx="3444240" cy="3931920"/>
          </a:xfrm>
          <a:prstGeom prst="roundRect">
            <a:avLst>
              <a:gd name="adj" fmla="val 2124"/>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4"/>
          <p:cNvSpPr/>
          <p:nvPr/>
        </p:nvSpPr>
        <p:spPr>
          <a:xfrm>
            <a:off x="841248" y="192024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Foundational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841248" y="2377440"/>
            <a:ext cx="2987040" cy="310896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Missed early building blocks, number sense, phonics, or enough hands-on play to build focus and coordination.</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4376928" y="1737360"/>
            <a:ext cx="3444240" cy="3931920"/>
          </a:xfrm>
          <a:prstGeom prst="roundRect">
            <a:avLst>
              <a:gd name="adj" fmla="val 2124"/>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4605528" y="192024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Environment &amp; systems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p:nvPr/>
        </p:nvSpPr>
        <p:spPr>
          <a:xfrm>
            <a:off x="4605528" y="2377440"/>
            <a:ext cx="2987040" cy="310896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Home or school conditions, sleep, stress, a curriculum mismatch, or a teaching style that doesn't fit.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9"/>
          <p:cNvSpPr/>
          <p:nvPr/>
        </p:nvSpPr>
        <p:spPr>
          <a:xfrm>
            <a:off x="8141208" y="1737360"/>
            <a:ext cx="3444240" cy="3931920"/>
          </a:xfrm>
          <a:prstGeom prst="roundRect">
            <a:avLst>
              <a:gd name="adj" fmla="val 2124"/>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8369808" y="192024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Learning profile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p:nvPr/>
        </p:nvSpPr>
        <p:spPr>
          <a:xfrm>
            <a:off x="8369808" y="2377440"/>
            <a:ext cx="2987040" cy="310896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How your child's brain naturally processes information, their particular strengths, styles and differences.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balance.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Learning difficulty vs. learning disability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822960" y="1691640"/>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learning difficulty describes the experience of struggle, often temporary, and usually resolved once you find the real cause: a foundational gap, a teaching-style mismatch, or simply not enough practice with a particular question type.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822960" y="2706624"/>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learning disability is different, a diagnosed, typically neurological difference (like dyslexia or ADHD) that tends to persist and benefits from formal assessment rather than “just more practice.” Struggling doesn't automatically mean disability, and two children with the same diagnosis can still look completely different day to day.</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brain.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Common types of learning disability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612648" y="1737360"/>
            <a:ext cx="3444240" cy="1828800"/>
          </a:xfrm>
          <a:prstGeom prst="roundRect">
            <a:avLst>
              <a:gd name="adj" fmla="val 4000"/>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4"/>
          <p:cNvSpPr/>
          <p:nvPr/>
        </p:nvSpPr>
        <p:spPr>
          <a:xfrm>
            <a:off x="841248" y="192024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Dyslexia</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841248" y="2377440"/>
            <a:ext cx="2987040" cy="100584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Difficulty with reading fluency, spelling or decoding words, unrelated to intelligence.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4376928" y="1737360"/>
            <a:ext cx="3444240" cy="1828800"/>
          </a:xfrm>
          <a:prstGeom prst="roundRect">
            <a:avLst>
              <a:gd name="adj" fmla="val 4000"/>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4605528" y="192024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Dyscalculia</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p:nvPr/>
        </p:nvSpPr>
        <p:spPr>
          <a:xfrm>
            <a:off x="4605528" y="2377440"/>
            <a:ext cx="2987040" cy="100584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Difficulty grasping number sense, sequences or basic arithmetic, even with repeated practice.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9"/>
          <p:cNvSpPr/>
          <p:nvPr/>
        </p:nvSpPr>
        <p:spPr>
          <a:xfrm>
            <a:off x="8141208" y="1737360"/>
            <a:ext cx="3444240" cy="1828800"/>
          </a:xfrm>
          <a:prstGeom prst="roundRect">
            <a:avLst>
              <a:gd name="adj" fmla="val 4000"/>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8369808" y="192024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Attention differences (ADHD)</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p:nvPr/>
        </p:nvSpPr>
        <p:spPr>
          <a:xfrm>
            <a:off x="8369808" y="2377440"/>
            <a:ext cx="2987040" cy="100584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Difficulty sustaining focus or filtering distractions, not a lack of effort or discipline.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612648" y="3886200"/>
            <a:ext cx="3444240" cy="1828800"/>
          </a:xfrm>
          <a:prstGeom prst="roundRect">
            <a:avLst>
              <a:gd name="adj" fmla="val 4000"/>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p:nvPr/>
        </p:nvSpPr>
        <p:spPr>
          <a:xfrm>
            <a:off x="841248" y="406908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Dyspraxia</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841248" y="4526280"/>
            <a:ext cx="2987040" cy="100584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Difficulty with coordination and fine motor skills, can affect handwriting speed and organisation.</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5"/>
          <p:cNvSpPr/>
          <p:nvPr/>
        </p:nvSpPr>
        <p:spPr>
          <a:xfrm>
            <a:off x="4376928" y="3886200"/>
            <a:ext cx="3444240" cy="1828800"/>
          </a:xfrm>
          <a:prstGeom prst="roundRect">
            <a:avLst>
              <a:gd name="adj" fmla="val 4000"/>
            </a:avLst>
          </a:prstGeom>
          <a:solidFill>
            <a:srgbClr val="FBEAE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4605528" y="4069080"/>
            <a:ext cx="29870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Processing speed differences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4605528" y="4526280"/>
            <a:ext cx="2987040" cy="1005840"/>
          </a:xfrm>
          <a:prstGeom prst="rect">
            <a:avLst/>
          </a:prstGeom>
          <a:noFill/>
          <a:ln/>
        </p:spPr>
        <p:txBody>
          <a:bodyPr wrap="square" lIns="0" tIns="0" rIns="0" bIns="0" rtlCol="0" anchor="t"/>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Taking longer to take in, process or respond to information, even when understanding is solid.</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8"/>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19"/>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balance.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General awareness, not a diagnosis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822960" y="1691640"/>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This list is here so the names feel familiar, not so you can diagnose from a slide. If something here rings a bell, the right next step is a proper assessment, an educational psychologist, your GP, or your child's school, not guessing alone.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822960" y="2706624"/>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An accurate diagnosis leads to the right support; an assumed one, right or wrong, can shape how a child sees themselves for years.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search.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Finding the root cause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822960" y="1691640"/>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Rather than jumping straight to “they need a tutor” or “they need to practise more,” a little observation first usually points you toward a much better solution.</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868680" y="2551176"/>
            <a:ext cx="10424160" cy="3849624"/>
          </a:xfrm>
          <a:prstGeom prst="rect">
            <a:avLst/>
          </a:prstGeom>
          <a:noFill/>
          <a:ln/>
        </p:spPr>
        <p:txBody>
          <a:bodyPr wrap="square" lIns="0" tIns="0" rIns="0" bIns="0" rtlCol="0" anchor="t"/>
          <a:lstStyle/>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When did the struggle actually begin, from the start, or at a certain point?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What kind of instruction do they struggle with most, verbal or written?</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Do they say “I don't understand” (a foundation gap) or “I'm bored” (a style mismatch)?</a:t>
            </a: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lang="en-US" sz="1450" dirty="0">
                <a:solidFill>
                  <a:srgbClr val="1A2E27"/>
                </a:solidFill>
                <a:latin typeface="Calibri" pitchFamily="34" charset="0"/>
                <a:ea typeface="Calibri" pitchFamily="34" charset="-122"/>
                <a:cs typeface="Calibri" pitchFamily="34" charset="-120"/>
              </a:rPr>
              <a:t>Is it a speed issue where they work through questions too quickly?</a:t>
            </a: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An executive function problem?</a:t>
            </a:r>
          </a:p>
          <a:p>
            <a:pPr marL="228600" indent="-228600">
              <a:spcAft>
                <a:spcPts val="1000"/>
              </a:spcAft>
              <a:buSzPct val="100000"/>
              <a:buFontTx/>
              <a:buChar char="•"/>
              <a:defRPr/>
            </a:pPr>
            <a:r>
              <a:rPr lang="en-US" sz="1450" dirty="0">
                <a:solidFill>
                  <a:srgbClr val="1A2E27"/>
                </a:solidFill>
                <a:latin typeface="Calibri" pitchFamily="34" charset="0"/>
                <a:ea typeface="Calibri" pitchFamily="34" charset="-122"/>
                <a:cs typeface="Calibri" pitchFamily="34" charset="-120"/>
              </a:rPr>
              <a:t>Does it happen after they’ve </a:t>
            </a:r>
            <a:r>
              <a:rPr lang="en-US" sz="1450" dirty="0" err="1">
                <a:solidFill>
                  <a:srgbClr val="1A2E27"/>
                </a:solidFill>
                <a:latin typeface="Calibri" pitchFamily="34" charset="0"/>
                <a:ea typeface="Calibri" pitchFamily="34" charset="-122"/>
                <a:cs typeface="Calibri" pitchFamily="34" charset="-120"/>
              </a:rPr>
              <a:t>exercted</a:t>
            </a:r>
            <a:r>
              <a:rPr lang="en-US" sz="1450" dirty="0">
                <a:solidFill>
                  <a:srgbClr val="1A2E27"/>
                </a:solidFill>
                <a:latin typeface="Calibri" pitchFamily="34" charset="0"/>
                <a:ea typeface="Calibri" pitchFamily="34" charset="-122"/>
                <a:cs typeface="Calibri" pitchFamily="34" charset="-120"/>
              </a:rPr>
              <a:t> lots of energy so after sports?</a:t>
            </a:r>
          </a:p>
          <a:p>
            <a:pPr marL="228600" indent="-228600">
              <a:spcAft>
                <a:spcPts val="1000"/>
              </a:spcAft>
              <a:buSzPct val="100000"/>
              <a:buFontTx/>
              <a:buChar char="•"/>
              <a:defRPr/>
            </a:pPr>
            <a:r>
              <a:rPr lang="en-US" sz="1450" dirty="0">
                <a:solidFill>
                  <a:srgbClr val="1A2E27"/>
                </a:solidFill>
                <a:latin typeface="Calibri" pitchFamily="34" charset="0"/>
                <a:ea typeface="Calibri" pitchFamily="34" charset="-122"/>
                <a:cs typeface="Calibri" pitchFamily="34" charset="-120"/>
              </a:rPr>
              <a:t>Or perhaps it is health of  </a:t>
            </a:r>
            <a:r>
              <a:rPr lang="en-US" sz="1450" dirty="0" err="1">
                <a:solidFill>
                  <a:srgbClr val="1A2E27"/>
                </a:solidFill>
                <a:latin typeface="Calibri" pitchFamily="34" charset="0"/>
                <a:ea typeface="Calibri" pitchFamily="34" charset="-122"/>
                <a:cs typeface="Calibri" pitchFamily="34" charset="-120"/>
              </a:rPr>
              <a:t>dietray</a:t>
            </a:r>
            <a:r>
              <a:rPr lang="en-US" sz="1450" dirty="0">
                <a:solidFill>
                  <a:srgbClr val="1A2E27"/>
                </a:solidFill>
                <a:latin typeface="Calibri" pitchFamily="34" charset="0"/>
                <a:ea typeface="Calibri" pitchFamily="34" charset="-122"/>
                <a:cs typeface="Calibri" pitchFamily="34" charset="-120"/>
              </a:rPr>
              <a:t> issue which I bet u can affect </a:t>
            </a:r>
            <a:r>
              <a:rPr lang="en-US" sz="1450" dirty="0" err="1">
                <a:solidFill>
                  <a:srgbClr val="1A2E27"/>
                </a:solidFill>
                <a:latin typeface="Calibri" pitchFamily="34" charset="0"/>
                <a:ea typeface="Calibri" pitchFamily="34" charset="-122"/>
                <a:cs typeface="Calibri" pitchFamily="34" charset="-120"/>
              </a:rPr>
              <a:t>childrens</a:t>
            </a:r>
            <a:r>
              <a:rPr lang="en-US" sz="1450" dirty="0">
                <a:solidFill>
                  <a:srgbClr val="1A2E27"/>
                </a:solidFill>
                <a:latin typeface="Calibri" pitchFamily="34" charset="0"/>
                <a:ea typeface="Calibri" pitchFamily="34" charset="-122"/>
                <a:cs typeface="Calibri" pitchFamily="34" charset="-120"/>
              </a:rPr>
              <a:t> academic </a:t>
            </a:r>
            <a:r>
              <a:rPr lang="en-US" sz="1450" dirty="0" err="1">
                <a:solidFill>
                  <a:srgbClr val="1A2E27"/>
                </a:solidFill>
                <a:latin typeface="Calibri" pitchFamily="34" charset="0"/>
                <a:ea typeface="Calibri" pitchFamily="34" charset="-122"/>
                <a:cs typeface="Calibri" pitchFamily="34" charset="-120"/>
              </a:rPr>
              <a:t>performccne</a:t>
            </a:r>
            <a:endParaRPr lang="en-US" sz="1450" dirty="0">
              <a:solidFill>
                <a:srgbClr val="1A2E27"/>
              </a:solidFill>
              <a:latin typeface="Calibri" pitchFamily="34" charset="0"/>
              <a:ea typeface="Calibri" pitchFamily="34" charset="-122"/>
              <a:cs typeface="Calibri" pitchFamily="34" charset="-120"/>
            </a:endParaRPr>
          </a:p>
          <a:p>
            <a:pPr marL="228600" lvl="0" indent="-228600">
              <a:spcAft>
                <a:spcPts val="1000"/>
              </a:spcAft>
              <a:buSzPct val="100000"/>
              <a:buFontTx/>
              <a:buChar char="•"/>
              <a:defRPr/>
            </a:pPr>
            <a:r>
              <a:rPr lang="en-US" sz="1450" dirty="0">
                <a:solidFill>
                  <a:srgbClr val="1A2E27"/>
                </a:solidFill>
                <a:latin typeface="Calibri" pitchFamily="34" charset="0"/>
                <a:ea typeface="Calibri" pitchFamily="34" charset="-122"/>
                <a:cs typeface="Calibri" pitchFamily="34" charset="-120"/>
              </a:rPr>
              <a:t>A </a:t>
            </a:r>
            <a:r>
              <a:rPr lang="en-US" sz="1450" dirty="0" err="1">
                <a:solidFill>
                  <a:srgbClr val="1A2E27"/>
                </a:solidFill>
                <a:latin typeface="Calibri" pitchFamily="34" charset="0"/>
                <a:ea typeface="Calibri" pitchFamily="34" charset="-122"/>
                <a:cs typeface="Calibri" pitchFamily="34" charset="-120"/>
              </a:rPr>
              <a:t>speci</a:t>
            </a:r>
            <a:r>
              <a:rPr lang="en-US" sz="1450" dirty="0">
                <a:solidFill>
                  <a:srgbClr val="1A2E27"/>
                </a:solidFill>
                <a:latin typeface="Calibri" pitchFamily="34" charset="0"/>
                <a:ea typeface="Calibri" pitchFamily="34" charset="-122"/>
                <a:cs typeface="Calibri" pitchFamily="34" charset="-120"/>
              </a:rPr>
              <a:t> al education needs (SEND)  problem al education needs problem </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502920" y="384048"/>
            <a:ext cx="594360" cy="594360"/>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home/claude/begin_deck/icons/clipboardList.png"/>
          <p:cNvPicPr>
            <a:picLocks noChangeAspect="1"/>
          </p:cNvPicPr>
          <p:nvPr/>
        </p:nvPicPr>
        <p:blipFill>
          <a:blip r:embed="rId3"/>
          <a:stretch>
            <a:fillRect/>
          </a:stretch>
        </p:blipFill>
        <p:spPr>
          <a:xfrm>
            <a:off x="658368" y="539496"/>
            <a:ext cx="283464" cy="283464"/>
          </a:xfrm>
          <a:prstGeom prst="rect">
            <a:avLst/>
          </a:prstGeom>
        </p:spPr>
      </p:pic>
      <p:sp>
        <p:nvSpPr>
          <p:cNvPr id="5" name="Text 2"/>
          <p:cNvSpPr/>
          <p:nvPr/>
        </p:nvSpPr>
        <p:spPr>
          <a:xfrm>
            <a:off x="1280160" y="365760"/>
            <a:ext cx="91440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FFFFFF"/>
                </a:solidFill>
                <a:effectLst/>
                <a:uLnTx/>
                <a:uFillTx/>
                <a:latin typeface="Calibri" pitchFamily="34" charset="0"/>
                <a:ea typeface="Calibri" pitchFamily="34" charset="-122"/>
                <a:cs typeface="Calibri" pitchFamily="34" charset="-120"/>
              </a:rPr>
              <a:t>WORKSHEET  ·  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1280160" y="621792"/>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Root cause observation worksheet</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822960" y="1600200"/>
            <a:ext cx="10515600" cy="548640"/>
          </a:xfrm>
          <a:prstGeom prst="rect">
            <a:avLst/>
          </a:prstGeom>
          <a:noFill/>
          <a:ln/>
        </p:spPr>
        <p:txBody>
          <a:bodyPr wrap="square" lIns="0" tIns="0" rIns="0" bIns="0" rtlCol="0" anchor="ctr"/>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350" b="0" i="1"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Observe over a week rather than a single session, patterns matter more than one bad day.</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822960" y="2331720"/>
            <a:ext cx="1042416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What subject or task do they avoid most, and when did that start?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822960" y="2788920"/>
            <a:ext cx="10424160" cy="0"/>
          </a:xfrm>
          <a:prstGeom prst="line">
            <a:avLst/>
          </a:prstGeom>
          <a:noFill/>
          <a:ln w="12700">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822960" y="3017520"/>
            <a:ext cx="1042416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What do they say when stuck, “I don't understand,” “I'm bored,” or something else?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822960" y="3474720"/>
            <a:ext cx="10424160" cy="0"/>
          </a:xfrm>
          <a:prstGeom prst="line">
            <a:avLst/>
          </a:prstGeom>
          <a:noFill/>
          <a:ln w="12700">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822960" y="3703320"/>
            <a:ext cx="1042416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What time of day do they focus best, and does that match when we usually study?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822960" y="4160520"/>
            <a:ext cx="10424160" cy="0"/>
          </a:xfrm>
          <a:prstGeom prst="line">
            <a:avLst/>
          </a:prstGeom>
          <a:noFill/>
          <a:ln w="12700">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822960" y="4389120"/>
            <a:ext cx="1042416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24A2F"/>
                </a:solidFill>
                <a:effectLst/>
                <a:uLnTx/>
                <a:uFillTx/>
                <a:latin typeface="Calibri" pitchFamily="34" charset="0"/>
                <a:ea typeface="Calibri" pitchFamily="34" charset="-122"/>
                <a:cs typeface="Calibri" pitchFamily="34" charset="-120"/>
              </a:rPr>
              <a:t>Is this showing up only at home, only at school, or both?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822960" y="4846320"/>
            <a:ext cx="10424160" cy="0"/>
          </a:xfrm>
          <a:prstGeom prst="line">
            <a:avLst/>
          </a:prstGeom>
          <a:noFill/>
          <a:ln w="12700">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48640"/>
            <a:ext cx="594360" cy="59436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home/claude/begin_deck/icons/hands.png"/>
          <p:cNvPicPr>
            <a:picLocks noChangeAspect="1"/>
          </p:cNvPicPr>
          <p:nvPr/>
        </p:nvPicPr>
        <p:blipFill>
          <a:blip r:embed="rId3"/>
          <a:stretch>
            <a:fillRect/>
          </a:stretch>
        </p:blipFill>
        <p:spPr>
          <a:xfrm>
            <a:off x="713232" y="713232"/>
            <a:ext cx="274320" cy="274320"/>
          </a:xfrm>
          <a:prstGeom prst="rect">
            <a:avLst/>
          </a:prstGeom>
        </p:spPr>
      </p:pic>
      <p:sp>
        <p:nvSpPr>
          <p:cNvPr id="4" name="Text 1"/>
          <p:cNvSpPr/>
          <p:nvPr/>
        </p:nvSpPr>
        <p:spPr>
          <a:xfrm>
            <a:off x="1325880" y="566928"/>
            <a:ext cx="9601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C24A2F"/>
                </a:solidFill>
                <a:effectLst/>
                <a:uLnTx/>
                <a:uFillTx/>
                <a:latin typeface="Calibri" pitchFamily="34" charset="0"/>
                <a:ea typeface="Calibri" pitchFamily="34" charset="-122"/>
                <a:cs typeface="Calibri" pitchFamily="34" charset="-120"/>
              </a:rPr>
              <a:t>ISSUE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1325880" y="841248"/>
            <a:ext cx="102412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2E27"/>
                </a:solidFill>
                <a:effectLst/>
                <a:uLnTx/>
                <a:uFillTx/>
                <a:latin typeface="Cambria" pitchFamily="34" charset="0"/>
                <a:ea typeface="Cambria" pitchFamily="34" charset="-122"/>
                <a:cs typeface="Cambria" pitchFamily="34" charset="-120"/>
              </a:rPr>
              <a:t>Partnering effectively with a tutor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822960" y="1691640"/>
            <a:ext cx="10607040" cy="822960"/>
          </a:xfrm>
          <a:prstGeom prst="rect">
            <a:avLst/>
          </a:prstGeom>
          <a:noFill/>
          <a:ln/>
        </p:spPr>
        <p:txBody>
          <a:bodyPr wrap="square" lIns="0" tIns="0" rIns="0" bIns="0" rtlCol="0" anchor="ct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Rather than only asking whether your child is struggling, it helps to ask more specific questions that reveal the actual pattern.</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868680" y="2551176"/>
            <a:ext cx="10424160" cy="3849624"/>
          </a:xfrm>
          <a:prstGeom prst="rect">
            <a:avLst/>
          </a:prstGeom>
          <a:noFill/>
          <a:ln/>
        </p:spPr>
        <p:txBody>
          <a:bodyPr wrap="square" lIns="0" tIns="0" rIns="0" bIns="0" rtlCol="0" anchor="t"/>
          <a:lstStyle/>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“What does my child do when they get confused?”</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“What pattern have you noticed in how they work?”</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100000"/>
              </a:lnSpc>
              <a:spcBef>
                <a:spcPts val="0"/>
              </a:spcBef>
              <a:spcAft>
                <a:spcPts val="1000"/>
              </a:spcAft>
              <a:buClrTx/>
              <a:buSzPct val="100000"/>
              <a:buFontTx/>
              <a:buChar char="•"/>
              <a:tabLst/>
              <a:defRPr/>
            </a:pPr>
            <a:r>
              <a:rPr kumimoji="0" lang="en-US" sz="145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“What seems to help them engage better?”</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457200" y="6510528"/>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Module 1 · The Begin Right Approach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8074152" y="6510528"/>
            <a:ext cx="36576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B6E68"/>
                </a:solidFill>
                <a:effectLst/>
                <a:uLnTx/>
                <a:uFillTx/>
                <a:latin typeface="Calibri" pitchFamily="34" charset="0"/>
                <a:ea typeface="Calibri" pitchFamily="34" charset="-122"/>
                <a:cs typeface="Calibri" pitchFamily="34" charset="-120"/>
              </a:rPr>
              <a:t>Jedon 11+ Learning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EAE5"/>
        </a:solidFill>
        <a:effectLst/>
      </p:bgPr>
    </p:bg>
    <p:spTree>
      <p:nvGrpSpPr>
        <p:cNvPr id="1" name=""/>
        <p:cNvGrpSpPr/>
        <p:nvPr/>
      </p:nvGrpSpPr>
      <p:grpSpPr>
        <a:xfrm>
          <a:off x="0" y="0"/>
          <a:ext cx="0" cy="0"/>
          <a:chOff x="0" y="0"/>
          <a:chExt cx="0" cy="0"/>
        </a:xfrm>
      </p:grpSpPr>
      <p:sp>
        <p:nvSpPr>
          <p:cNvPr id="2" name="Shape 0"/>
          <p:cNvSpPr/>
          <p:nvPr/>
        </p:nvSpPr>
        <p:spPr>
          <a:xfrm>
            <a:off x="640080" y="685800"/>
            <a:ext cx="914400" cy="914400"/>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640080" y="713232"/>
            <a:ext cx="91440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I</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783080" y="822960"/>
            <a:ext cx="91440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A2E27"/>
                </a:solidFill>
                <a:effectLst/>
                <a:uLnTx/>
                <a:uFillTx/>
                <a:latin typeface="Cambria" pitchFamily="34" charset="0"/>
                <a:ea typeface="Cambria" pitchFamily="34" charset="-122"/>
                <a:cs typeface="Cambria" pitchFamily="34" charset="-120"/>
              </a:rPr>
              <a:t>In conclusion…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822960" y="2020824"/>
            <a:ext cx="201168" cy="201168"/>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1234440" y="1938528"/>
            <a:ext cx="9966960" cy="548640"/>
          </a:xfrm>
          <a:prstGeom prst="rect">
            <a:avLst/>
          </a:prstGeom>
          <a:noFill/>
          <a:ln/>
        </p:spPr>
        <p:txBody>
          <a:bodyPr wrap="square" lIns="0" tIns="0" rIns="0" bIns="0" rtlCol="0" anchor="ctr"/>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A learning gap is a starting point for understanding, not a label.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822960" y="2798064"/>
            <a:ext cx="201168" cy="201168"/>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1234440" y="2715768"/>
            <a:ext cx="9966960" cy="548640"/>
          </a:xfrm>
          <a:prstGeom prst="rect">
            <a:avLst/>
          </a:prstGeom>
          <a:noFill/>
          <a:ln/>
        </p:spPr>
        <p:txBody>
          <a:bodyPr wrap="square" lIns="0" tIns="0" rIns="0" bIns="0" rtlCol="0" anchor="ctr"/>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Good grades don't always mean deep understanding, look beyond the score.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822960" y="3575304"/>
            <a:ext cx="201168" cy="201168"/>
          </a:xfrm>
          <a:prstGeom prst="ellipse">
            <a:avLst/>
          </a:prstGeom>
          <a:solidFill>
            <a:srgbClr val="C24A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1234440" y="3493008"/>
            <a:ext cx="9966960" cy="548640"/>
          </a:xfrm>
          <a:prstGeom prst="rect">
            <a:avLst/>
          </a:prstGeom>
          <a:noFill/>
          <a:ln/>
        </p:spPr>
        <p:txBody>
          <a:bodyPr wrap="square" lIns="0" tIns="0" rIns="0" bIns="0" rtlCol="0" anchor="ctr"/>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A2E27"/>
                </a:solidFill>
                <a:effectLst/>
                <a:uLnTx/>
                <a:uFillTx/>
                <a:latin typeface="Calibri" pitchFamily="34" charset="0"/>
                <a:ea typeface="Calibri" pitchFamily="34" charset="-122"/>
                <a:cs typeface="Calibri" pitchFamily="34" charset="-120"/>
              </a:rPr>
              <a:t>Observe before you intervene, the right solution depends on the real root cause.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1646</Words>
  <Application>Microsoft Office PowerPoint</Application>
  <PresentationFormat>Widescreen</PresentationFormat>
  <Paragraphs>123</Paragraphs>
  <Slides>13</Slides>
  <Notes>12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13</vt:i4>
      </vt:variant>
    </vt:vector>
  </HeadingPairs>
  <TitlesOfParts>
    <vt:vector size="20" baseType="lpstr">
      <vt:lpstr>Aptos</vt:lpstr>
      <vt:lpstr>Aptos Display</vt:lpstr>
      <vt:lpstr>Arial</vt:lpstr>
      <vt:lpstr>Calibri</vt:lpstr>
      <vt:lpstr>Cambria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Esosa Ikolo</dc:creator>
  <cp:lastModifiedBy>Esosa Ikolo</cp:lastModifiedBy>
  <cp:revision>1</cp:revision>
  <dcterms:created xsi:type="dcterms:W3CDTF">2026-09-11T22:14:55Z</dcterms:created>
  <dcterms:modified xsi:type="dcterms:W3CDTF">2026-09-11T22:59:27Z</dcterms:modified>
</cp:coreProperties>
</file>