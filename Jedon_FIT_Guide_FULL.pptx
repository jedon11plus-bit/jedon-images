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594" r:id="rId3"/>
    <p:sldId id="257" r:id="rId4"/>
    <p:sldId id="258" r:id="rId5"/>
    <p:sldId id="259" r:id="rId6"/>
    <p:sldId id="263"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596" r:id="rId30"/>
    <p:sldId id="285" r:id="rId31"/>
    <p:sldId id="284" r:id="rId32"/>
    <p:sldId id="295" r:id="rId33"/>
    <p:sldId id="286" r:id="rId34"/>
    <p:sldId id="287" r:id="rId35"/>
    <p:sldId id="288" r:id="rId36"/>
    <p:sldId id="289" r:id="rId37"/>
    <p:sldId id="290" r:id="rId38"/>
    <p:sldId id="291" r:id="rId39"/>
    <p:sldId id="292" r:id="rId40"/>
    <p:sldId id="293"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3FEBBE-8AC0-497F-99C7-A5BAFD826E1E}" v="30" dt="2026-09-10T22:02:38.8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3030" autoAdjust="0"/>
  </p:normalViewPr>
  <p:slideViewPr>
    <p:cSldViewPr snapToGrid="0" snapToObjects="1">
      <p:cViewPr>
        <p:scale>
          <a:sx n="70" d="100"/>
          <a:sy n="70" d="100"/>
        </p:scale>
        <p:origin x="512"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osa Ikolo" userId="e15ed2b287547e14" providerId="LiveId" clId="{90F37D0A-844B-4F06-A634-094CD4C0DEE7}"/>
    <pc:docChg chg="undo custSel addSld delSld modSld sldOrd">
      <pc:chgData name="Esosa Ikolo" userId="e15ed2b287547e14" providerId="LiveId" clId="{90F37D0A-844B-4F06-A634-094CD4C0DEE7}" dt="2026-09-10T22:03:05.620" v="584"/>
      <pc:docMkLst>
        <pc:docMk/>
      </pc:docMkLst>
      <pc:sldChg chg="modSp mod">
        <pc:chgData name="Esosa Ikolo" userId="e15ed2b287547e14" providerId="LiveId" clId="{90F37D0A-844B-4F06-A634-094CD4C0DEE7}" dt="2026-09-09T22:03:19.687" v="136" actId="20577"/>
        <pc:sldMkLst>
          <pc:docMk/>
          <pc:sldMk cId="0" sldId="256"/>
        </pc:sldMkLst>
        <pc:spChg chg="mod">
          <ac:chgData name="Esosa Ikolo" userId="e15ed2b287547e14" providerId="LiveId" clId="{90F37D0A-844B-4F06-A634-094CD4C0DEE7}" dt="2026-09-09T22:03:19.687" v="136" actId="20577"/>
          <ac:spMkLst>
            <pc:docMk/>
            <pc:sldMk cId="0" sldId="256"/>
            <ac:spMk id="6" creationId="{00000000-0000-0000-0000-000000000000}"/>
          </ac:spMkLst>
        </pc:spChg>
      </pc:sldChg>
      <pc:sldChg chg="modSp mod">
        <pc:chgData name="Esosa Ikolo" userId="e15ed2b287547e14" providerId="LiveId" clId="{90F37D0A-844B-4F06-A634-094CD4C0DEE7}" dt="2026-09-08T23:00:59.920" v="31" actId="20577"/>
        <pc:sldMkLst>
          <pc:docMk/>
          <pc:sldMk cId="0" sldId="257"/>
        </pc:sldMkLst>
        <pc:spChg chg="mod">
          <ac:chgData name="Esosa Ikolo" userId="e15ed2b287547e14" providerId="LiveId" clId="{90F37D0A-844B-4F06-A634-094CD4C0DEE7}" dt="2026-09-08T23:00:59.920" v="31" actId="20577"/>
          <ac:spMkLst>
            <pc:docMk/>
            <pc:sldMk cId="0" sldId="257"/>
            <ac:spMk id="9" creationId="{00000000-0000-0000-0000-000000000000}"/>
          </ac:spMkLst>
        </pc:spChg>
      </pc:sldChg>
      <pc:sldChg chg="modSp">
        <pc:chgData name="Esosa Ikolo" userId="e15ed2b287547e14" providerId="LiveId" clId="{90F37D0A-844B-4F06-A634-094CD4C0DEE7}" dt="2026-09-08T23:01:54.556" v="33"/>
        <pc:sldMkLst>
          <pc:docMk/>
          <pc:sldMk cId="0" sldId="259"/>
        </pc:sldMkLst>
        <pc:spChg chg="mod">
          <ac:chgData name="Esosa Ikolo" userId="e15ed2b287547e14" providerId="LiveId" clId="{90F37D0A-844B-4F06-A634-094CD4C0DEE7}" dt="2026-09-08T23:01:54.556" v="33"/>
          <ac:spMkLst>
            <pc:docMk/>
            <pc:sldMk cId="0" sldId="259"/>
            <ac:spMk id="10" creationId="{00000000-0000-0000-0000-000000000000}"/>
          </ac:spMkLst>
        </pc:spChg>
      </pc:sldChg>
      <pc:sldChg chg="modSp del mod">
        <pc:chgData name="Esosa Ikolo" userId="e15ed2b287547e14" providerId="LiveId" clId="{90F37D0A-844B-4F06-A634-094CD4C0DEE7}" dt="2026-09-09T22:02:35.058" v="117" actId="47"/>
        <pc:sldMkLst>
          <pc:docMk/>
          <pc:sldMk cId="0" sldId="260"/>
        </pc:sldMkLst>
        <pc:spChg chg="mod">
          <ac:chgData name="Esosa Ikolo" userId="e15ed2b287547e14" providerId="LiveId" clId="{90F37D0A-844B-4F06-A634-094CD4C0DEE7}" dt="2026-09-09T21:59:10.964" v="37" actId="20577"/>
          <ac:spMkLst>
            <pc:docMk/>
            <pc:sldMk cId="0" sldId="260"/>
            <ac:spMk id="13" creationId="{00000000-0000-0000-0000-000000000000}"/>
          </ac:spMkLst>
        </pc:spChg>
      </pc:sldChg>
      <pc:sldChg chg="modSp">
        <pc:chgData name="Esosa Ikolo" userId="e15ed2b287547e14" providerId="LiveId" clId="{90F37D0A-844B-4F06-A634-094CD4C0DEE7}" dt="2026-09-08T23:01:54.556" v="33"/>
        <pc:sldMkLst>
          <pc:docMk/>
          <pc:sldMk cId="0" sldId="261"/>
        </pc:sldMkLst>
        <pc:spChg chg="mod">
          <ac:chgData name="Esosa Ikolo" userId="e15ed2b287547e14" providerId="LiveId" clId="{90F37D0A-844B-4F06-A634-094CD4C0DEE7}" dt="2026-09-08T23:01:54.556" v="33"/>
          <ac:spMkLst>
            <pc:docMk/>
            <pc:sldMk cId="0" sldId="261"/>
            <ac:spMk id="10" creationId="{00000000-0000-0000-0000-000000000000}"/>
          </ac:spMkLst>
        </pc:spChg>
      </pc:sldChg>
      <pc:sldChg chg="modSp">
        <pc:chgData name="Esosa Ikolo" userId="e15ed2b287547e14" providerId="LiveId" clId="{90F37D0A-844B-4F06-A634-094CD4C0DEE7}" dt="2026-09-08T23:01:54.556" v="33"/>
        <pc:sldMkLst>
          <pc:docMk/>
          <pc:sldMk cId="0" sldId="262"/>
        </pc:sldMkLst>
        <pc:spChg chg="mod">
          <ac:chgData name="Esosa Ikolo" userId="e15ed2b287547e14" providerId="LiveId" clId="{90F37D0A-844B-4F06-A634-094CD4C0DEE7}" dt="2026-09-08T23:01:54.556" v="33"/>
          <ac:spMkLst>
            <pc:docMk/>
            <pc:sldMk cId="0" sldId="262"/>
            <ac:spMk id="10" creationId="{00000000-0000-0000-0000-000000000000}"/>
          </ac:spMkLst>
        </pc:spChg>
      </pc:sldChg>
      <pc:sldChg chg="modSp mod ord">
        <pc:chgData name="Esosa Ikolo" userId="e15ed2b287547e14" providerId="LiveId" clId="{90F37D0A-844B-4F06-A634-094CD4C0DEE7}" dt="2026-09-09T22:02:31.743" v="116" actId="20577"/>
        <pc:sldMkLst>
          <pc:docMk/>
          <pc:sldMk cId="0" sldId="263"/>
        </pc:sldMkLst>
        <pc:spChg chg="mod">
          <ac:chgData name="Esosa Ikolo" userId="e15ed2b287547e14" providerId="LiveId" clId="{90F37D0A-844B-4F06-A634-094CD4C0DEE7}" dt="2026-09-09T22:01:51.417" v="90" actId="6549"/>
          <ac:spMkLst>
            <pc:docMk/>
            <pc:sldMk cId="0" sldId="263"/>
            <ac:spMk id="10" creationId="{00000000-0000-0000-0000-000000000000}"/>
          </ac:spMkLst>
        </pc:spChg>
        <pc:spChg chg="mod">
          <ac:chgData name="Esosa Ikolo" userId="e15ed2b287547e14" providerId="LiveId" clId="{90F37D0A-844B-4F06-A634-094CD4C0DEE7}" dt="2026-09-09T22:02:31.743" v="116" actId="20577"/>
          <ac:spMkLst>
            <pc:docMk/>
            <pc:sldMk cId="0" sldId="263"/>
            <ac:spMk id="16" creationId="{00000000-0000-0000-0000-000000000000}"/>
          </ac:spMkLst>
        </pc:spChg>
      </pc:sldChg>
      <pc:sldChg chg="modSp">
        <pc:chgData name="Esosa Ikolo" userId="e15ed2b287547e14" providerId="LiveId" clId="{90F37D0A-844B-4F06-A634-094CD4C0DEE7}" dt="2026-09-08T23:01:54.556" v="33"/>
        <pc:sldMkLst>
          <pc:docMk/>
          <pc:sldMk cId="0" sldId="264"/>
        </pc:sldMkLst>
        <pc:spChg chg="mod">
          <ac:chgData name="Esosa Ikolo" userId="e15ed2b287547e14" providerId="LiveId" clId="{90F37D0A-844B-4F06-A634-094CD4C0DEE7}" dt="2026-09-08T23:01:54.556" v="33"/>
          <ac:spMkLst>
            <pc:docMk/>
            <pc:sldMk cId="0" sldId="264"/>
            <ac:spMk id="10" creationId="{00000000-0000-0000-0000-000000000000}"/>
          </ac:spMkLst>
        </pc:spChg>
      </pc:sldChg>
      <pc:sldChg chg="modSp">
        <pc:chgData name="Esosa Ikolo" userId="e15ed2b287547e14" providerId="LiveId" clId="{90F37D0A-844B-4F06-A634-094CD4C0DEE7}" dt="2026-09-08T23:01:54.556" v="33"/>
        <pc:sldMkLst>
          <pc:docMk/>
          <pc:sldMk cId="0" sldId="268"/>
        </pc:sldMkLst>
        <pc:spChg chg="mod">
          <ac:chgData name="Esosa Ikolo" userId="e15ed2b287547e14" providerId="LiveId" clId="{90F37D0A-844B-4F06-A634-094CD4C0DEE7}" dt="2026-09-08T23:01:54.556" v="33"/>
          <ac:spMkLst>
            <pc:docMk/>
            <pc:sldMk cId="0" sldId="268"/>
            <ac:spMk id="10" creationId="{00000000-0000-0000-0000-000000000000}"/>
          </ac:spMkLst>
        </pc:spChg>
      </pc:sldChg>
      <pc:sldChg chg="modSp">
        <pc:chgData name="Esosa Ikolo" userId="e15ed2b287547e14" providerId="LiveId" clId="{90F37D0A-844B-4F06-A634-094CD4C0DEE7}" dt="2026-09-08T23:01:54.556" v="33"/>
        <pc:sldMkLst>
          <pc:docMk/>
          <pc:sldMk cId="0" sldId="269"/>
        </pc:sldMkLst>
        <pc:spChg chg="mod">
          <ac:chgData name="Esosa Ikolo" userId="e15ed2b287547e14" providerId="LiveId" clId="{90F37D0A-844B-4F06-A634-094CD4C0DEE7}" dt="2026-09-08T23:01:54.556" v="33"/>
          <ac:spMkLst>
            <pc:docMk/>
            <pc:sldMk cId="0" sldId="269"/>
            <ac:spMk id="10" creationId="{00000000-0000-0000-0000-000000000000}"/>
          </ac:spMkLst>
        </pc:spChg>
      </pc:sldChg>
      <pc:sldChg chg="modSp">
        <pc:chgData name="Esosa Ikolo" userId="e15ed2b287547e14" providerId="LiveId" clId="{90F37D0A-844B-4F06-A634-094CD4C0DEE7}" dt="2026-09-08T23:01:54.556" v="33"/>
        <pc:sldMkLst>
          <pc:docMk/>
          <pc:sldMk cId="0" sldId="270"/>
        </pc:sldMkLst>
        <pc:spChg chg="mod">
          <ac:chgData name="Esosa Ikolo" userId="e15ed2b287547e14" providerId="LiveId" clId="{90F37D0A-844B-4F06-A634-094CD4C0DEE7}" dt="2026-09-08T23:01:54.556" v="33"/>
          <ac:spMkLst>
            <pc:docMk/>
            <pc:sldMk cId="0" sldId="270"/>
            <ac:spMk id="10" creationId="{00000000-0000-0000-0000-000000000000}"/>
          </ac:spMkLst>
        </pc:spChg>
      </pc:sldChg>
      <pc:sldChg chg="modSp">
        <pc:chgData name="Esosa Ikolo" userId="e15ed2b287547e14" providerId="LiveId" clId="{90F37D0A-844B-4F06-A634-094CD4C0DEE7}" dt="2026-09-08T23:01:54.556" v="33"/>
        <pc:sldMkLst>
          <pc:docMk/>
          <pc:sldMk cId="0" sldId="271"/>
        </pc:sldMkLst>
        <pc:spChg chg="mod">
          <ac:chgData name="Esosa Ikolo" userId="e15ed2b287547e14" providerId="LiveId" clId="{90F37D0A-844B-4F06-A634-094CD4C0DEE7}" dt="2026-09-08T23:01:54.556" v="33"/>
          <ac:spMkLst>
            <pc:docMk/>
            <pc:sldMk cId="0" sldId="271"/>
            <ac:spMk id="10" creationId="{00000000-0000-0000-0000-000000000000}"/>
          </ac:spMkLst>
        </pc:spChg>
      </pc:sldChg>
      <pc:sldChg chg="modSp">
        <pc:chgData name="Esosa Ikolo" userId="e15ed2b287547e14" providerId="LiveId" clId="{90F37D0A-844B-4F06-A634-094CD4C0DEE7}" dt="2026-09-08T23:01:54.556" v="33"/>
        <pc:sldMkLst>
          <pc:docMk/>
          <pc:sldMk cId="0" sldId="274"/>
        </pc:sldMkLst>
        <pc:spChg chg="mod">
          <ac:chgData name="Esosa Ikolo" userId="e15ed2b287547e14" providerId="LiveId" clId="{90F37D0A-844B-4F06-A634-094CD4C0DEE7}" dt="2026-09-08T23:01:54.556" v="33"/>
          <ac:spMkLst>
            <pc:docMk/>
            <pc:sldMk cId="0" sldId="274"/>
            <ac:spMk id="10" creationId="{00000000-0000-0000-0000-000000000000}"/>
          </ac:spMkLst>
        </pc:spChg>
      </pc:sldChg>
      <pc:sldChg chg="modSp">
        <pc:chgData name="Esosa Ikolo" userId="e15ed2b287547e14" providerId="LiveId" clId="{90F37D0A-844B-4F06-A634-094CD4C0DEE7}" dt="2026-09-08T23:01:54.556" v="33"/>
        <pc:sldMkLst>
          <pc:docMk/>
          <pc:sldMk cId="0" sldId="275"/>
        </pc:sldMkLst>
        <pc:spChg chg="mod">
          <ac:chgData name="Esosa Ikolo" userId="e15ed2b287547e14" providerId="LiveId" clId="{90F37D0A-844B-4F06-A634-094CD4C0DEE7}" dt="2026-09-08T23:01:54.556" v="33"/>
          <ac:spMkLst>
            <pc:docMk/>
            <pc:sldMk cId="0" sldId="275"/>
            <ac:spMk id="10" creationId="{00000000-0000-0000-0000-000000000000}"/>
          </ac:spMkLst>
        </pc:spChg>
      </pc:sldChg>
      <pc:sldChg chg="modSp">
        <pc:chgData name="Esosa Ikolo" userId="e15ed2b287547e14" providerId="LiveId" clId="{90F37D0A-844B-4F06-A634-094CD4C0DEE7}" dt="2026-09-08T23:01:54.556" v="33"/>
        <pc:sldMkLst>
          <pc:docMk/>
          <pc:sldMk cId="0" sldId="277"/>
        </pc:sldMkLst>
        <pc:spChg chg="mod">
          <ac:chgData name="Esosa Ikolo" userId="e15ed2b287547e14" providerId="LiveId" clId="{90F37D0A-844B-4F06-A634-094CD4C0DEE7}" dt="2026-09-08T23:01:54.556" v="33"/>
          <ac:spMkLst>
            <pc:docMk/>
            <pc:sldMk cId="0" sldId="277"/>
            <ac:spMk id="10" creationId="{00000000-0000-0000-0000-000000000000}"/>
          </ac:spMkLst>
        </pc:spChg>
      </pc:sldChg>
      <pc:sldChg chg="modSp">
        <pc:chgData name="Esosa Ikolo" userId="e15ed2b287547e14" providerId="LiveId" clId="{90F37D0A-844B-4F06-A634-094CD4C0DEE7}" dt="2026-09-08T23:01:54.556" v="33"/>
        <pc:sldMkLst>
          <pc:docMk/>
          <pc:sldMk cId="0" sldId="278"/>
        </pc:sldMkLst>
        <pc:spChg chg="mod">
          <ac:chgData name="Esosa Ikolo" userId="e15ed2b287547e14" providerId="LiveId" clId="{90F37D0A-844B-4F06-A634-094CD4C0DEE7}" dt="2026-09-08T23:01:54.556" v="33"/>
          <ac:spMkLst>
            <pc:docMk/>
            <pc:sldMk cId="0" sldId="278"/>
            <ac:spMk id="10" creationId="{00000000-0000-0000-0000-000000000000}"/>
          </ac:spMkLst>
        </pc:spChg>
      </pc:sldChg>
      <pc:sldChg chg="modSp">
        <pc:chgData name="Esosa Ikolo" userId="e15ed2b287547e14" providerId="LiveId" clId="{90F37D0A-844B-4F06-A634-094CD4C0DEE7}" dt="2026-09-08T23:01:54.556" v="33"/>
        <pc:sldMkLst>
          <pc:docMk/>
          <pc:sldMk cId="0" sldId="279"/>
        </pc:sldMkLst>
        <pc:spChg chg="mod">
          <ac:chgData name="Esosa Ikolo" userId="e15ed2b287547e14" providerId="LiveId" clId="{90F37D0A-844B-4F06-A634-094CD4C0DEE7}" dt="2026-09-08T23:01:54.556" v="33"/>
          <ac:spMkLst>
            <pc:docMk/>
            <pc:sldMk cId="0" sldId="279"/>
            <ac:spMk id="10" creationId="{00000000-0000-0000-0000-000000000000}"/>
          </ac:spMkLst>
        </pc:spChg>
      </pc:sldChg>
      <pc:sldChg chg="modSp">
        <pc:chgData name="Esosa Ikolo" userId="e15ed2b287547e14" providerId="LiveId" clId="{90F37D0A-844B-4F06-A634-094CD4C0DEE7}" dt="2026-09-08T23:01:54.556" v="33"/>
        <pc:sldMkLst>
          <pc:docMk/>
          <pc:sldMk cId="0" sldId="282"/>
        </pc:sldMkLst>
        <pc:spChg chg="mod">
          <ac:chgData name="Esosa Ikolo" userId="e15ed2b287547e14" providerId="LiveId" clId="{90F37D0A-844B-4F06-A634-094CD4C0DEE7}" dt="2026-09-08T23:01:54.556" v="33"/>
          <ac:spMkLst>
            <pc:docMk/>
            <pc:sldMk cId="0" sldId="282"/>
            <ac:spMk id="10" creationId="{00000000-0000-0000-0000-000000000000}"/>
          </ac:spMkLst>
        </pc:spChg>
      </pc:sldChg>
      <pc:sldChg chg="modSp">
        <pc:chgData name="Esosa Ikolo" userId="e15ed2b287547e14" providerId="LiveId" clId="{90F37D0A-844B-4F06-A634-094CD4C0DEE7}" dt="2026-09-08T23:01:54.556" v="33"/>
        <pc:sldMkLst>
          <pc:docMk/>
          <pc:sldMk cId="0" sldId="283"/>
        </pc:sldMkLst>
        <pc:spChg chg="mod">
          <ac:chgData name="Esosa Ikolo" userId="e15ed2b287547e14" providerId="LiveId" clId="{90F37D0A-844B-4F06-A634-094CD4C0DEE7}" dt="2026-09-08T23:01:54.556" v="33"/>
          <ac:spMkLst>
            <pc:docMk/>
            <pc:sldMk cId="0" sldId="283"/>
            <ac:spMk id="10" creationId="{00000000-0000-0000-0000-000000000000}"/>
          </ac:spMkLst>
        </pc:spChg>
      </pc:sldChg>
      <pc:sldChg chg="modSp">
        <pc:chgData name="Esosa Ikolo" userId="e15ed2b287547e14" providerId="LiveId" clId="{90F37D0A-844B-4F06-A634-094CD4C0DEE7}" dt="2026-09-08T23:01:54.556" v="33"/>
        <pc:sldMkLst>
          <pc:docMk/>
          <pc:sldMk cId="0" sldId="284"/>
        </pc:sldMkLst>
        <pc:spChg chg="mod">
          <ac:chgData name="Esosa Ikolo" userId="e15ed2b287547e14" providerId="LiveId" clId="{90F37D0A-844B-4F06-A634-094CD4C0DEE7}" dt="2026-09-08T23:01:54.556" v="33"/>
          <ac:spMkLst>
            <pc:docMk/>
            <pc:sldMk cId="0" sldId="284"/>
            <ac:spMk id="10" creationId="{00000000-0000-0000-0000-000000000000}"/>
          </ac:spMkLst>
        </pc:spChg>
      </pc:sldChg>
      <pc:sldChg chg="modSp ord">
        <pc:chgData name="Esosa Ikolo" userId="e15ed2b287547e14" providerId="LiveId" clId="{90F37D0A-844B-4F06-A634-094CD4C0DEE7}" dt="2026-09-10T22:03:05.620" v="584"/>
        <pc:sldMkLst>
          <pc:docMk/>
          <pc:sldMk cId="0" sldId="285"/>
        </pc:sldMkLst>
        <pc:spChg chg="mod">
          <ac:chgData name="Esosa Ikolo" userId="e15ed2b287547e14" providerId="LiveId" clId="{90F37D0A-844B-4F06-A634-094CD4C0DEE7}" dt="2026-09-08T23:01:54.556" v="33"/>
          <ac:spMkLst>
            <pc:docMk/>
            <pc:sldMk cId="0" sldId="285"/>
            <ac:spMk id="5" creationId="{00000000-0000-0000-0000-000000000000}"/>
          </ac:spMkLst>
        </pc:spChg>
        <pc:spChg chg="mod">
          <ac:chgData name="Esosa Ikolo" userId="e15ed2b287547e14" providerId="LiveId" clId="{90F37D0A-844B-4F06-A634-094CD4C0DEE7}" dt="2026-09-08T23:01:54.556" v="33"/>
          <ac:spMkLst>
            <pc:docMk/>
            <pc:sldMk cId="0" sldId="285"/>
            <ac:spMk id="10" creationId="{00000000-0000-0000-0000-000000000000}"/>
          </ac:spMkLst>
        </pc:spChg>
        <pc:spChg chg="mod">
          <ac:chgData name="Esosa Ikolo" userId="e15ed2b287547e14" providerId="LiveId" clId="{90F37D0A-844B-4F06-A634-094CD4C0DEE7}" dt="2026-09-08T23:01:54.556" v="33"/>
          <ac:spMkLst>
            <pc:docMk/>
            <pc:sldMk cId="0" sldId="285"/>
            <ac:spMk id="13" creationId="{00000000-0000-0000-0000-000000000000}"/>
          </ac:spMkLst>
        </pc:spChg>
        <pc:spChg chg="mod">
          <ac:chgData name="Esosa Ikolo" userId="e15ed2b287547e14" providerId="LiveId" clId="{90F37D0A-844B-4F06-A634-094CD4C0DEE7}" dt="2026-09-08T23:01:54.556" v="33"/>
          <ac:spMkLst>
            <pc:docMk/>
            <pc:sldMk cId="0" sldId="285"/>
            <ac:spMk id="16" creationId="{00000000-0000-0000-0000-000000000000}"/>
          </ac:spMkLst>
        </pc:spChg>
        <pc:spChg chg="mod">
          <ac:chgData name="Esosa Ikolo" userId="e15ed2b287547e14" providerId="LiveId" clId="{90F37D0A-844B-4F06-A634-094CD4C0DEE7}" dt="2026-09-08T23:01:54.556" v="33"/>
          <ac:spMkLst>
            <pc:docMk/>
            <pc:sldMk cId="0" sldId="285"/>
            <ac:spMk id="19" creationId="{00000000-0000-0000-0000-000000000000}"/>
          </ac:spMkLst>
        </pc:spChg>
      </pc:sldChg>
      <pc:sldChg chg="modSp">
        <pc:chgData name="Esosa Ikolo" userId="e15ed2b287547e14" providerId="LiveId" clId="{90F37D0A-844B-4F06-A634-094CD4C0DEE7}" dt="2026-09-08T23:01:54.556" v="33"/>
        <pc:sldMkLst>
          <pc:docMk/>
          <pc:sldMk cId="0" sldId="286"/>
        </pc:sldMkLst>
        <pc:spChg chg="mod">
          <ac:chgData name="Esosa Ikolo" userId="e15ed2b287547e14" providerId="LiveId" clId="{90F37D0A-844B-4F06-A634-094CD4C0DEE7}" dt="2026-09-08T23:01:54.556" v="33"/>
          <ac:spMkLst>
            <pc:docMk/>
            <pc:sldMk cId="0" sldId="286"/>
            <ac:spMk id="12" creationId="{00000000-0000-0000-0000-000000000000}"/>
          </ac:spMkLst>
        </pc:spChg>
      </pc:sldChg>
      <pc:sldChg chg="modSp">
        <pc:chgData name="Esosa Ikolo" userId="e15ed2b287547e14" providerId="LiveId" clId="{90F37D0A-844B-4F06-A634-094CD4C0DEE7}" dt="2026-09-08T23:01:54.556" v="33"/>
        <pc:sldMkLst>
          <pc:docMk/>
          <pc:sldMk cId="0" sldId="289"/>
        </pc:sldMkLst>
        <pc:spChg chg="mod">
          <ac:chgData name="Esosa Ikolo" userId="e15ed2b287547e14" providerId="LiveId" clId="{90F37D0A-844B-4F06-A634-094CD4C0DEE7}" dt="2026-09-08T23:01:54.556" v="33"/>
          <ac:spMkLst>
            <pc:docMk/>
            <pc:sldMk cId="0" sldId="289"/>
            <ac:spMk id="7" creationId="{00000000-0000-0000-0000-000000000000}"/>
          </ac:spMkLst>
        </pc:spChg>
      </pc:sldChg>
      <pc:sldChg chg="modSp mod">
        <pc:chgData name="Esosa Ikolo" userId="e15ed2b287547e14" providerId="LiveId" clId="{90F37D0A-844B-4F06-A634-094CD4C0DEE7}" dt="2026-09-10T20:46:35.748" v="217" actId="20577"/>
        <pc:sldMkLst>
          <pc:docMk/>
          <pc:sldMk cId="0" sldId="292"/>
        </pc:sldMkLst>
        <pc:graphicFrameChg chg="modGraphic">
          <ac:chgData name="Esosa Ikolo" userId="e15ed2b287547e14" providerId="LiveId" clId="{90F37D0A-844B-4F06-A634-094CD4C0DEE7}" dt="2026-09-10T20:46:35.748" v="217" actId="20577"/>
          <ac:graphicFrameMkLst>
            <pc:docMk/>
            <pc:sldMk cId="0" sldId="292"/>
            <ac:graphicFrameMk id="38" creationId="{00000000-0000-0000-0000-000000000000}"/>
          </ac:graphicFrameMkLst>
        </pc:graphicFrameChg>
      </pc:sldChg>
      <pc:sldChg chg="new del">
        <pc:chgData name="Esosa Ikolo" userId="e15ed2b287547e14" providerId="LiveId" clId="{90F37D0A-844B-4F06-A634-094CD4C0DEE7}" dt="2026-09-10T21:11:23.998" v="549" actId="47"/>
        <pc:sldMkLst>
          <pc:docMk/>
          <pc:sldMk cId="2058346947" sldId="294"/>
        </pc:sldMkLst>
      </pc:sldChg>
      <pc:sldChg chg="addSp delSp modSp add mod modNotesTx">
        <pc:chgData name="Esosa Ikolo" userId="e15ed2b287547e14" providerId="LiveId" clId="{90F37D0A-844B-4F06-A634-094CD4C0DEE7}" dt="2026-09-10T21:01:39.268" v="548" actId="1037"/>
        <pc:sldMkLst>
          <pc:docMk/>
          <pc:sldMk cId="967933546" sldId="295"/>
        </pc:sldMkLst>
        <pc:spChg chg="mod">
          <ac:chgData name="Esosa Ikolo" userId="e15ed2b287547e14" providerId="LiveId" clId="{90F37D0A-844B-4F06-A634-094CD4C0DEE7}" dt="2026-09-10T20:57:46.943" v="353" actId="1036"/>
          <ac:spMkLst>
            <pc:docMk/>
            <pc:sldMk cId="967933546" sldId="295"/>
            <ac:spMk id="5" creationId="{A4F7BC18-60BE-B440-1D1D-FD554EE7A3C9}"/>
          </ac:spMkLst>
        </pc:spChg>
        <pc:spChg chg="mod">
          <ac:chgData name="Esosa Ikolo" userId="e15ed2b287547e14" providerId="LiveId" clId="{90F37D0A-844B-4F06-A634-094CD4C0DEE7}" dt="2026-09-10T20:57:52.246" v="369" actId="1035"/>
          <ac:spMkLst>
            <pc:docMk/>
            <pc:sldMk cId="967933546" sldId="295"/>
            <ac:spMk id="6" creationId="{AF562196-939A-B7A0-398B-8F9F6462C2B9}"/>
          </ac:spMkLst>
        </pc:spChg>
        <pc:spChg chg="mod">
          <ac:chgData name="Esosa Ikolo" userId="e15ed2b287547e14" providerId="LiveId" clId="{90F37D0A-844B-4F06-A634-094CD4C0DEE7}" dt="2026-09-10T20:57:56.097" v="385" actId="1035"/>
          <ac:spMkLst>
            <pc:docMk/>
            <pc:sldMk cId="967933546" sldId="295"/>
            <ac:spMk id="7" creationId="{C0955DF6-CBBE-AB23-22CE-764A080D87E8}"/>
          </ac:spMkLst>
        </pc:spChg>
        <pc:spChg chg="del">
          <ac:chgData name="Esosa Ikolo" userId="e15ed2b287547e14" providerId="LiveId" clId="{90F37D0A-844B-4F06-A634-094CD4C0DEE7}" dt="2026-09-10T20:56:33.740" v="307" actId="478"/>
          <ac:spMkLst>
            <pc:docMk/>
            <pc:sldMk cId="967933546" sldId="295"/>
            <ac:spMk id="8" creationId="{8F05588C-78C4-687E-84E6-B42F3FEDE9C0}"/>
          </ac:spMkLst>
        </pc:spChg>
        <pc:spChg chg="mod">
          <ac:chgData name="Esosa Ikolo" userId="e15ed2b287547e14" providerId="LiveId" clId="{90F37D0A-844B-4F06-A634-094CD4C0DEE7}" dt="2026-09-10T20:58:23.326" v="408" actId="1036"/>
          <ac:spMkLst>
            <pc:docMk/>
            <pc:sldMk cId="967933546" sldId="295"/>
            <ac:spMk id="10" creationId="{59947B8E-34EF-3B2B-99D0-CCBB54FA39B4}"/>
          </ac:spMkLst>
        </pc:spChg>
        <pc:spChg chg="del">
          <ac:chgData name="Esosa Ikolo" userId="e15ed2b287547e14" providerId="LiveId" clId="{90F37D0A-844B-4F06-A634-094CD4C0DEE7}" dt="2026-09-10T20:56:30.609" v="306" actId="478"/>
          <ac:spMkLst>
            <pc:docMk/>
            <pc:sldMk cId="967933546" sldId="295"/>
            <ac:spMk id="11" creationId="{902231DD-EA9B-567D-D706-0ACC7D54DB13}"/>
          </ac:spMkLst>
        </pc:spChg>
        <pc:spChg chg="mod">
          <ac:chgData name="Esosa Ikolo" userId="e15ed2b287547e14" providerId="LiveId" clId="{90F37D0A-844B-4F06-A634-094CD4C0DEE7}" dt="2026-09-10T20:58:23.326" v="408" actId="1036"/>
          <ac:spMkLst>
            <pc:docMk/>
            <pc:sldMk cId="967933546" sldId="295"/>
            <ac:spMk id="13" creationId="{7179655B-6B5B-9E96-1D66-C9570AD75856}"/>
          </ac:spMkLst>
        </pc:spChg>
        <pc:spChg chg="del">
          <ac:chgData name="Esosa Ikolo" userId="e15ed2b287547e14" providerId="LiveId" clId="{90F37D0A-844B-4F06-A634-094CD4C0DEE7}" dt="2026-09-10T20:56:39.273" v="309" actId="478"/>
          <ac:spMkLst>
            <pc:docMk/>
            <pc:sldMk cId="967933546" sldId="295"/>
            <ac:spMk id="14" creationId="{845C73A8-68DD-41AA-0D5D-E5F8B4CC1BB9}"/>
          </ac:spMkLst>
        </pc:spChg>
        <pc:spChg chg="del">
          <ac:chgData name="Esosa Ikolo" userId="e15ed2b287547e14" providerId="LiveId" clId="{90F37D0A-844B-4F06-A634-094CD4C0DEE7}" dt="2026-09-10T20:56:36.907" v="308" actId="478"/>
          <ac:spMkLst>
            <pc:docMk/>
            <pc:sldMk cId="967933546" sldId="295"/>
            <ac:spMk id="15" creationId="{618A8BC2-A79E-2816-3D3E-AC5495D283CF}"/>
          </ac:spMkLst>
        </pc:spChg>
        <pc:spChg chg="mod">
          <ac:chgData name="Esosa Ikolo" userId="e15ed2b287547e14" providerId="LiveId" clId="{90F37D0A-844B-4F06-A634-094CD4C0DEE7}" dt="2026-09-10T20:58:23.326" v="408" actId="1036"/>
          <ac:spMkLst>
            <pc:docMk/>
            <pc:sldMk cId="967933546" sldId="295"/>
            <ac:spMk id="16" creationId="{1DC9B2AC-7E93-FD8E-0D25-06BC95BCF996}"/>
          </ac:spMkLst>
        </pc:spChg>
        <pc:spChg chg="del mod">
          <ac:chgData name="Esosa Ikolo" userId="e15ed2b287547e14" providerId="LiveId" clId="{90F37D0A-844B-4F06-A634-094CD4C0DEE7}" dt="2026-09-10T20:57:13.167" v="319" actId="478"/>
          <ac:spMkLst>
            <pc:docMk/>
            <pc:sldMk cId="967933546" sldId="295"/>
            <ac:spMk id="17" creationId="{4816EDAF-792D-8775-D173-E3E3240344A6}"/>
          </ac:spMkLst>
        </pc:spChg>
        <pc:spChg chg="del">
          <ac:chgData name="Esosa Ikolo" userId="e15ed2b287547e14" providerId="LiveId" clId="{90F37D0A-844B-4F06-A634-094CD4C0DEE7}" dt="2026-09-10T20:57:09.059" v="317" actId="478"/>
          <ac:spMkLst>
            <pc:docMk/>
            <pc:sldMk cId="967933546" sldId="295"/>
            <ac:spMk id="18" creationId="{C386AE2F-8F39-1629-B4AC-E4DE66E93F44}"/>
          </ac:spMkLst>
        </pc:spChg>
        <pc:spChg chg="del">
          <ac:chgData name="Esosa Ikolo" userId="e15ed2b287547e14" providerId="LiveId" clId="{90F37D0A-844B-4F06-A634-094CD4C0DEE7}" dt="2026-09-10T20:57:04.672" v="316" actId="478"/>
          <ac:spMkLst>
            <pc:docMk/>
            <pc:sldMk cId="967933546" sldId="295"/>
            <ac:spMk id="19" creationId="{965A635D-298F-8946-2005-AE7C37DC39A3}"/>
          </ac:spMkLst>
        </pc:spChg>
        <pc:spChg chg="del mod">
          <ac:chgData name="Esosa Ikolo" userId="e15ed2b287547e14" providerId="LiveId" clId="{90F37D0A-844B-4F06-A634-094CD4C0DEE7}" dt="2026-09-10T20:57:02.423" v="315" actId="478"/>
          <ac:spMkLst>
            <pc:docMk/>
            <pc:sldMk cId="967933546" sldId="295"/>
            <ac:spMk id="20" creationId="{44AFBCD2-9F72-38E1-8264-1E322AC0D929}"/>
          </ac:spMkLst>
        </pc:spChg>
        <pc:spChg chg="add del mod">
          <ac:chgData name="Esosa Ikolo" userId="e15ed2b287547e14" providerId="LiveId" clId="{90F37D0A-844B-4F06-A634-094CD4C0DEE7}" dt="2026-09-10T20:55:20.198" v="274"/>
          <ac:spMkLst>
            <pc:docMk/>
            <pc:sldMk cId="967933546" sldId="295"/>
            <ac:spMk id="21" creationId="{2BF7FFB3-9B66-FA31-B496-D6607850DF4B}"/>
          </ac:spMkLst>
        </pc:spChg>
        <pc:spChg chg="add del mod">
          <ac:chgData name="Esosa Ikolo" userId="e15ed2b287547e14" providerId="LiveId" clId="{90F37D0A-844B-4F06-A634-094CD4C0DEE7}" dt="2026-09-10T20:55:21.711" v="277"/>
          <ac:spMkLst>
            <pc:docMk/>
            <pc:sldMk cId="967933546" sldId="295"/>
            <ac:spMk id="22" creationId="{B62D17A1-FC7B-5E11-E33D-57B9A9804B6B}"/>
          </ac:spMkLst>
        </pc:spChg>
        <pc:spChg chg="add mod">
          <ac:chgData name="Esosa Ikolo" userId="e15ed2b287547e14" providerId="LiveId" clId="{90F37D0A-844B-4F06-A634-094CD4C0DEE7}" dt="2026-09-10T20:59:17.458" v="517" actId="1035"/>
          <ac:spMkLst>
            <pc:docMk/>
            <pc:sldMk cId="967933546" sldId="295"/>
            <ac:spMk id="24" creationId="{BCFF1B42-BD88-7A11-5922-FE73D62309C2}"/>
          </ac:spMkLst>
        </pc:spChg>
        <pc:spChg chg="add mod">
          <ac:chgData name="Esosa Ikolo" userId="e15ed2b287547e14" providerId="LiveId" clId="{90F37D0A-844B-4F06-A634-094CD4C0DEE7}" dt="2026-09-10T20:59:21.355" v="533" actId="1035"/>
          <ac:spMkLst>
            <pc:docMk/>
            <pc:sldMk cId="967933546" sldId="295"/>
            <ac:spMk id="26" creationId="{7CA24205-35F9-A2C4-6D53-59F76BF65E88}"/>
          </ac:spMkLst>
        </pc:spChg>
        <pc:spChg chg="add mod">
          <ac:chgData name="Esosa Ikolo" userId="e15ed2b287547e14" providerId="LiveId" clId="{90F37D0A-844B-4F06-A634-094CD4C0DEE7}" dt="2026-09-10T21:01:39.268" v="548" actId="1037"/>
          <ac:spMkLst>
            <pc:docMk/>
            <pc:sldMk cId="967933546" sldId="295"/>
            <ac:spMk id="28" creationId="{625AE998-8770-767A-9434-8C701F84C5BE}"/>
          </ac:spMkLst>
        </pc:spChg>
        <pc:spChg chg="add mod">
          <ac:chgData name="Esosa Ikolo" userId="e15ed2b287547e14" providerId="LiveId" clId="{90F37D0A-844B-4F06-A634-094CD4C0DEE7}" dt="2026-09-10T21:01:39.268" v="548" actId="1037"/>
          <ac:spMkLst>
            <pc:docMk/>
            <pc:sldMk cId="967933546" sldId="295"/>
            <ac:spMk id="30" creationId="{5CABB5EE-DE05-F11F-3065-1F8E130B170B}"/>
          </ac:spMkLst>
        </pc:spChg>
        <pc:spChg chg="add mod">
          <ac:chgData name="Esosa Ikolo" userId="e15ed2b287547e14" providerId="LiveId" clId="{90F37D0A-844B-4F06-A634-094CD4C0DEE7}" dt="2026-09-10T21:01:39.268" v="548" actId="1037"/>
          <ac:spMkLst>
            <pc:docMk/>
            <pc:sldMk cId="967933546" sldId="295"/>
            <ac:spMk id="32" creationId="{862611B2-D62C-1058-5378-EBA640C7B25D}"/>
          </ac:spMkLst>
        </pc:spChg>
      </pc:sldChg>
      <pc:sldChg chg="add">
        <pc:chgData name="Esosa Ikolo" userId="e15ed2b287547e14" providerId="LiveId" clId="{90F37D0A-844B-4F06-A634-094CD4C0DEE7}" dt="2026-09-10T21:59:16.471" v="550"/>
        <pc:sldMkLst>
          <pc:docMk/>
          <pc:sldMk cId="791463277" sldId="594"/>
        </pc:sldMkLst>
      </pc:sldChg>
      <pc:sldChg chg="addSp delSp modSp new add del mod">
        <pc:chgData name="Esosa Ikolo" userId="e15ed2b287547e14" providerId="LiveId" clId="{90F37D0A-844B-4F06-A634-094CD4C0DEE7}" dt="2026-09-10T22:02:53.017" v="582" actId="47"/>
        <pc:sldMkLst>
          <pc:docMk/>
          <pc:sldMk cId="1577312832" sldId="595"/>
        </pc:sldMkLst>
        <pc:spChg chg="add del">
          <ac:chgData name="Esosa Ikolo" userId="e15ed2b287547e14" providerId="LiveId" clId="{90F37D0A-844B-4F06-A634-094CD4C0DEE7}" dt="2026-09-10T22:00:20.271" v="556"/>
          <ac:spMkLst>
            <pc:docMk/>
            <pc:sldMk cId="1577312832" sldId="595"/>
            <ac:spMk id="3" creationId="{FEEECF04-EF07-2A10-804B-CB428ECECD82}"/>
          </ac:spMkLst>
        </pc:spChg>
        <pc:spChg chg="add del mod">
          <ac:chgData name="Esosa Ikolo" userId="e15ed2b287547e14" providerId="LiveId" clId="{90F37D0A-844B-4F06-A634-094CD4C0DEE7}" dt="2026-09-10T22:00:24.318" v="559" actId="22"/>
          <ac:spMkLst>
            <pc:docMk/>
            <pc:sldMk cId="1577312832" sldId="595"/>
            <ac:spMk id="5" creationId="{261ED137-295D-3F6F-0220-AAD58301E9C8}"/>
          </ac:spMkLst>
        </pc:spChg>
        <pc:spChg chg="add del">
          <ac:chgData name="Esosa Ikolo" userId="e15ed2b287547e14" providerId="LiveId" clId="{90F37D0A-844B-4F06-A634-094CD4C0DEE7}" dt="2026-09-10T22:00:21.852" v="557" actId="22"/>
          <ac:spMkLst>
            <pc:docMk/>
            <pc:sldMk cId="1577312832" sldId="595"/>
            <ac:spMk id="8" creationId="{AF397A70-3348-E0F7-931B-3B13D54E0419}"/>
          </ac:spMkLst>
        </pc:spChg>
        <pc:graphicFrameChg chg="add mod">
          <ac:chgData name="Esosa Ikolo" userId="e15ed2b287547e14" providerId="LiveId" clId="{90F37D0A-844B-4F06-A634-094CD4C0DEE7}" dt="2026-09-10T22:00:20.271" v="556"/>
          <ac:graphicFrameMkLst>
            <pc:docMk/>
            <pc:sldMk cId="1577312832" sldId="595"/>
            <ac:graphicFrameMk id="6" creationId="{73749450-59C1-BCD0-1F9B-E6D09DA25E9F}"/>
          </ac:graphicFrameMkLst>
        </pc:graphicFrameChg>
      </pc:sldChg>
      <pc:sldChg chg="add del">
        <pc:chgData name="Esosa Ikolo" userId="e15ed2b287547e14" providerId="LiveId" clId="{90F37D0A-844B-4F06-A634-094CD4C0DEE7}" dt="2026-09-10T22:00:30.907" v="562" actId="2890"/>
        <pc:sldMkLst>
          <pc:docMk/>
          <pc:sldMk cId="2010817456" sldId="595"/>
        </pc:sldMkLst>
      </pc:sldChg>
      <pc:sldChg chg="addSp delSp modSp add mod">
        <pc:chgData name="Esosa Ikolo" userId="e15ed2b287547e14" providerId="LiveId" clId="{90F37D0A-844B-4F06-A634-094CD4C0DEE7}" dt="2026-09-10T22:02:38.817" v="581"/>
        <pc:sldMkLst>
          <pc:docMk/>
          <pc:sldMk cId="2289639740" sldId="596"/>
        </pc:sldMkLst>
        <pc:spChg chg="del">
          <ac:chgData name="Esosa Ikolo" userId="e15ed2b287547e14" providerId="LiveId" clId="{90F37D0A-844B-4F06-A634-094CD4C0DEE7}" dt="2026-09-10T22:00:47.983" v="565" actId="478"/>
          <ac:spMkLst>
            <pc:docMk/>
            <pc:sldMk cId="2289639740" sldId="596"/>
            <ac:spMk id="4" creationId="{3FE396E5-C6B8-4A62-E83F-517BFF888B99}"/>
          </ac:spMkLst>
        </pc:spChg>
        <pc:spChg chg="del">
          <ac:chgData name="Esosa Ikolo" userId="e15ed2b287547e14" providerId="LiveId" clId="{90F37D0A-844B-4F06-A634-094CD4C0DEE7}" dt="2026-09-10T22:00:47.983" v="565" actId="478"/>
          <ac:spMkLst>
            <pc:docMk/>
            <pc:sldMk cId="2289639740" sldId="596"/>
            <ac:spMk id="5" creationId="{4A898106-FBE2-4796-7A47-0F3575EC555B}"/>
          </ac:spMkLst>
        </pc:spChg>
        <pc:spChg chg="del">
          <ac:chgData name="Esosa Ikolo" userId="e15ed2b287547e14" providerId="LiveId" clId="{90F37D0A-844B-4F06-A634-094CD4C0DEE7}" dt="2026-09-10T22:00:47.983" v="565" actId="478"/>
          <ac:spMkLst>
            <pc:docMk/>
            <pc:sldMk cId="2289639740" sldId="596"/>
            <ac:spMk id="6" creationId="{5A288356-AEB9-2812-2BFD-BD3B9B519573}"/>
          </ac:spMkLst>
        </pc:spChg>
        <pc:spChg chg="del">
          <ac:chgData name="Esosa Ikolo" userId="e15ed2b287547e14" providerId="LiveId" clId="{90F37D0A-844B-4F06-A634-094CD4C0DEE7}" dt="2026-09-10T22:00:47.983" v="565" actId="478"/>
          <ac:spMkLst>
            <pc:docMk/>
            <pc:sldMk cId="2289639740" sldId="596"/>
            <ac:spMk id="8" creationId="{9685756B-65AA-2C22-1928-7A7443A6A2A1}"/>
          </ac:spMkLst>
        </pc:spChg>
        <pc:spChg chg="del">
          <ac:chgData name="Esosa Ikolo" userId="e15ed2b287547e14" providerId="LiveId" clId="{90F37D0A-844B-4F06-A634-094CD4C0DEE7}" dt="2026-09-10T22:00:47.983" v="565" actId="478"/>
          <ac:spMkLst>
            <pc:docMk/>
            <pc:sldMk cId="2289639740" sldId="596"/>
            <ac:spMk id="9" creationId="{E0C3C025-4E33-027A-8AB4-DF03F4A5AED6}"/>
          </ac:spMkLst>
        </pc:spChg>
        <pc:spChg chg="del">
          <ac:chgData name="Esosa Ikolo" userId="e15ed2b287547e14" providerId="LiveId" clId="{90F37D0A-844B-4F06-A634-094CD4C0DEE7}" dt="2026-09-10T22:00:47.983" v="565" actId="478"/>
          <ac:spMkLst>
            <pc:docMk/>
            <pc:sldMk cId="2289639740" sldId="596"/>
            <ac:spMk id="10" creationId="{370D02D4-D75D-C631-A7CC-BB5CC55E049C}"/>
          </ac:spMkLst>
        </pc:spChg>
        <pc:spChg chg="del">
          <ac:chgData name="Esosa Ikolo" userId="e15ed2b287547e14" providerId="LiveId" clId="{90F37D0A-844B-4F06-A634-094CD4C0DEE7}" dt="2026-09-10T22:00:47.983" v="565" actId="478"/>
          <ac:spMkLst>
            <pc:docMk/>
            <pc:sldMk cId="2289639740" sldId="596"/>
            <ac:spMk id="11" creationId="{06E19D4C-1D2B-9A1B-6ACE-4B65A0C0C069}"/>
          </ac:spMkLst>
        </pc:spChg>
        <pc:spChg chg="del">
          <ac:chgData name="Esosa Ikolo" userId="e15ed2b287547e14" providerId="LiveId" clId="{90F37D0A-844B-4F06-A634-094CD4C0DEE7}" dt="2026-09-10T22:00:47.983" v="565" actId="478"/>
          <ac:spMkLst>
            <pc:docMk/>
            <pc:sldMk cId="2289639740" sldId="596"/>
            <ac:spMk id="12" creationId="{6E23E4DC-8D8B-45FC-BE4E-2831BA9BF9FC}"/>
          </ac:spMkLst>
        </pc:spChg>
        <pc:spChg chg="del">
          <ac:chgData name="Esosa Ikolo" userId="e15ed2b287547e14" providerId="LiveId" clId="{90F37D0A-844B-4F06-A634-094CD4C0DEE7}" dt="2026-09-10T22:00:47.983" v="565" actId="478"/>
          <ac:spMkLst>
            <pc:docMk/>
            <pc:sldMk cId="2289639740" sldId="596"/>
            <ac:spMk id="16" creationId="{F1D7D177-9890-BF08-545B-EE2EE9E16985}"/>
          </ac:spMkLst>
        </pc:spChg>
        <pc:spChg chg="del">
          <ac:chgData name="Esosa Ikolo" userId="e15ed2b287547e14" providerId="LiveId" clId="{90F37D0A-844B-4F06-A634-094CD4C0DEE7}" dt="2026-09-10T22:00:47.983" v="565" actId="478"/>
          <ac:spMkLst>
            <pc:docMk/>
            <pc:sldMk cId="2289639740" sldId="596"/>
            <ac:spMk id="17" creationId="{03AFA299-AFFC-42B1-8473-BB4AEE013333}"/>
          </ac:spMkLst>
        </pc:spChg>
        <pc:spChg chg="add mod">
          <ac:chgData name="Esosa Ikolo" userId="e15ed2b287547e14" providerId="LiveId" clId="{90F37D0A-844B-4F06-A634-094CD4C0DEE7}" dt="2026-09-10T22:02:38.817" v="581"/>
          <ac:spMkLst>
            <pc:docMk/>
            <pc:sldMk cId="2289639740" sldId="596"/>
            <ac:spMk id="23" creationId="{87516547-242E-C508-4C59-81AAA798B0CA}"/>
          </ac:spMkLst>
        </pc:spChg>
        <pc:spChg chg="add mod">
          <ac:chgData name="Esosa Ikolo" userId="e15ed2b287547e14" providerId="LiveId" clId="{90F37D0A-844B-4F06-A634-094CD4C0DEE7}" dt="2026-09-10T22:02:16.030" v="579" actId="1076"/>
          <ac:spMkLst>
            <pc:docMk/>
            <pc:sldMk cId="2289639740" sldId="596"/>
            <ac:spMk id="25" creationId="{ECCF24D0-FA94-2C68-E74D-A103BEA9F1DA}"/>
          </ac:spMkLst>
        </pc:spChg>
        <pc:spChg chg="add mod">
          <ac:chgData name="Esosa Ikolo" userId="e15ed2b287547e14" providerId="LiveId" clId="{90F37D0A-844B-4F06-A634-094CD4C0DEE7}" dt="2026-09-10T22:02:19.233" v="580" actId="14100"/>
          <ac:spMkLst>
            <pc:docMk/>
            <pc:sldMk cId="2289639740" sldId="596"/>
            <ac:spMk id="27" creationId="{2BE49F04-5B11-9124-0E98-65C0EF0BDA77}"/>
          </ac:spMkLst>
        </pc:spChg>
        <pc:graphicFrameChg chg="add mod modGraphic">
          <ac:chgData name="Esosa Ikolo" userId="e15ed2b287547e14" providerId="LiveId" clId="{90F37D0A-844B-4F06-A634-094CD4C0DEE7}" dt="2026-09-10T22:01:57.538" v="575" actId="1076"/>
          <ac:graphicFrameMkLst>
            <pc:docMk/>
            <pc:sldMk cId="2289639740" sldId="596"/>
            <ac:graphicFrameMk id="21" creationId="{A3A24F70-60F5-429D-00C0-5130E5B91C8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8612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F2F7D-48E3-E25A-9722-6F16538C9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21619-2447-37D3-659A-C5B229139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3367B-55D1-AE5E-72C7-4FFB56ED92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EB42DE-BB24-A232-3FB5-641ECDD133C4}"/>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8593233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7642A-77F9-45EE-5E20-F6225AFD0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80F42-0F00-33F7-97B3-5E2843CDEE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EDEC2-E932-6EDB-CB3D-06DA8DD03614}"/>
              </a:ext>
            </a:extLst>
          </p:cNvPr>
          <p:cNvSpPr>
            <a:spLocks noGrp="1"/>
          </p:cNvSpPr>
          <p:nvPr>
            <p:ph type="body" idx="1"/>
          </p:nvPr>
        </p:nvSpPr>
        <p:spPr/>
        <p:txBody>
          <a:bodyPr/>
          <a:lstStyle/>
          <a:p>
            <a:pPr rtl="0"/>
            <a:endParaRPr lang="en-GB" b="1" dirty="0">
              <a:effectLst/>
            </a:endParaRPr>
          </a:p>
          <a:p>
            <a:pPr rtl="0"/>
            <a:r>
              <a:rPr lang="en-GB" b="1" dirty="0">
                <a:effectLst/>
              </a:rPr>
              <a:t>Parent Reference Guides (To Learn </a:t>
            </a:r>
            <a:r>
              <a:rPr lang="en-GB" b="1" i="1" dirty="0">
                <a:effectLst/>
              </a:rPr>
              <a:t>How</a:t>
            </a:r>
            <a:r>
              <a:rPr lang="en-GB" b="1" dirty="0">
                <a:effectLst/>
              </a:rPr>
              <a:t> to Teach)</a:t>
            </a:r>
          </a:p>
          <a:p>
            <a:pPr rtl="0"/>
            <a:r>
              <a:rPr lang="en-GB" b="1" dirty="0">
                <a:effectLst/>
              </a:rPr>
              <a:t>Practice Workbooks (For Guided Joint Sessions)</a:t>
            </a:r>
          </a:p>
          <a:p>
            <a:pPr lvl="0" rtl="0"/>
            <a:r>
              <a:rPr lang="en-GB" b="1" dirty="0">
                <a:effectLst/>
              </a:rPr>
              <a:t>11+ Essentials Mathematics: Worded Problems (First Past the Post / Eleven Plus Exams):</a:t>
            </a:r>
            <a:r>
              <a:rPr lang="en-GB" dirty="0">
                <a:effectLst/>
              </a:rPr>
              <a:t> Features comprehensive worked solution walkthroughs for every problem, serving as a ready-made coaching script.</a:t>
            </a:r>
          </a:p>
          <a:p>
            <a:pPr lvl="0" rtl="0"/>
            <a:r>
              <a:rPr lang="en-GB" b="1" dirty="0">
                <a:effectLst/>
              </a:rPr>
              <a:t>11+ Maths Workbooks - Problem Solving Series (AE Publications):</a:t>
            </a:r>
            <a:r>
              <a:rPr lang="en-GB" dirty="0">
                <a:effectLst/>
              </a:rPr>
              <a:t> Teaches structured visual techniques, including diagramming and the unitary method.</a:t>
            </a:r>
          </a:p>
          <a:p>
            <a:endParaRPr lang="en-US" dirty="0"/>
          </a:p>
        </p:txBody>
      </p:sp>
      <p:sp>
        <p:nvSpPr>
          <p:cNvPr id="4" name="Slide Number Placeholder 3">
            <a:extLst>
              <a:ext uri="{FF2B5EF4-FFF2-40B4-BE49-F238E27FC236}">
                <a16:creationId xmlns:a16="http://schemas.microsoft.com/office/drawing/2014/main" id="{DE20674E-C1A8-AFF2-E08B-3CE794A69C03}"/>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451420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853211-5ACC-4837-9340-F4A347D5B1D9}" type="datetimeFigureOut">
              <a:rPr lang="en-GB" smtClean="0"/>
              <a:t>09/09/2026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C8F255-81A5-4F95-94D0-C6688D129417}" type="slidenum">
              <a:rPr lang="en-GB" smtClean="0"/>
              <a:t>‹#›</a:t>
            </a:fld>
            <a:endParaRPr lang="en-GB"/>
          </a:p>
        </p:txBody>
      </p:sp>
    </p:spTree>
    <p:extLst>
      <p:ext uri="{BB962C8B-B14F-4D97-AF65-F5344CB8AC3E}">
        <p14:creationId xmlns:p14="http://schemas.microsoft.com/office/powerpoint/2010/main" val="24800674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5041"/>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CFE8DE"/>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2377440"/>
            <a:ext cx="109728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Jedon F.I.T. Resource Guide</a:t>
            </a:r>
            <a:endParaRPr lang="en-US" sz="4000" dirty="0"/>
          </a:p>
        </p:txBody>
      </p:sp>
      <p:sp>
        <p:nvSpPr>
          <p:cNvPr id="5" name="Text 3"/>
          <p:cNvSpPr/>
          <p:nvPr/>
        </p:nvSpPr>
        <p:spPr>
          <a:xfrm>
            <a:off x="548640" y="3429000"/>
            <a:ext cx="10058400" cy="548640"/>
          </a:xfrm>
          <a:prstGeom prst="rect">
            <a:avLst/>
          </a:prstGeom>
          <a:noFill/>
          <a:ln/>
        </p:spPr>
        <p:txBody>
          <a:bodyPr wrap="square" lIns="0" tIns="0" rIns="0" bIns="0" rtlCol="0" anchor="ctr"/>
          <a:lstStyle/>
          <a:p>
            <a:pPr marL="0" indent="0">
              <a:buNone/>
            </a:pPr>
            <a:r>
              <a:rPr lang="en-US" sz="1600" dirty="0">
                <a:solidFill>
                  <a:srgbClr val="CFE8DE"/>
                </a:solidFill>
                <a:latin typeface="Calibri" pitchFamily="34" charset="0"/>
                <a:ea typeface="Calibri" pitchFamily="34" charset="-122"/>
                <a:cs typeface="Calibri" pitchFamily="34" charset="-120"/>
              </a:rPr>
              <a:t>Choosing the right 11+ resource at the right time - for every subject and every child</a:t>
            </a:r>
            <a:endParaRPr lang="en-US" sz="1600" dirty="0"/>
          </a:p>
        </p:txBody>
      </p:sp>
      <p:sp>
        <p:nvSpPr>
          <p:cNvPr id="6" name="Text 4"/>
          <p:cNvSpPr/>
          <p:nvPr/>
        </p:nvSpPr>
        <p:spPr>
          <a:xfrm>
            <a:off x="548640" y="3977640"/>
            <a:ext cx="9144000" cy="365760"/>
          </a:xfrm>
          <a:prstGeom prst="rect">
            <a:avLst/>
          </a:prstGeom>
          <a:noFill/>
          <a:ln/>
        </p:spPr>
        <p:txBody>
          <a:bodyPr wrap="square" lIns="0" tIns="0" rIns="0" bIns="0" rtlCol="0" anchor="ctr"/>
          <a:lstStyle/>
          <a:p>
            <a:pPr marL="0" indent="0">
              <a:buNone/>
            </a:pPr>
            <a:r>
              <a:rPr lang="en-US" sz="1100" b="1" kern="0" spc="100" dirty="0">
                <a:solidFill>
                  <a:srgbClr val="FF7451"/>
                </a:solidFill>
                <a:latin typeface="Calibri" pitchFamily="34" charset="0"/>
                <a:ea typeface="Calibri" pitchFamily="34" charset="-122"/>
                <a:cs typeface="Calibri" pitchFamily="34" charset="-120"/>
              </a:rPr>
              <a:t>FULL RESOURCE IN LEARNING HUB  |  JEDON 11+ PREMIUM</a:t>
            </a:r>
            <a:endParaRPr lang="en-US" sz="1100" dirty="0"/>
          </a:p>
        </p:txBody>
      </p:sp>
      <p:sp>
        <p:nvSpPr>
          <p:cNvPr id="7" name="Shape 5"/>
          <p:cNvSpPr/>
          <p:nvPr/>
        </p:nvSpPr>
        <p:spPr>
          <a:xfrm>
            <a:off x="548640" y="4663440"/>
            <a:ext cx="320040" cy="320040"/>
          </a:xfrm>
          <a:prstGeom prst="rect">
            <a:avLst/>
          </a:prstGeom>
          <a:solidFill>
            <a:srgbClr val="FF7451"/>
          </a:solidFill>
          <a:ln/>
        </p:spPr>
        <p:txBody>
          <a:bodyPr/>
          <a:lstStyle/>
          <a:p>
            <a:endParaRPr lang="en-GB"/>
          </a:p>
        </p:txBody>
      </p:sp>
      <p:sp>
        <p:nvSpPr>
          <p:cNvPr id="8" name="Shape 6"/>
          <p:cNvSpPr/>
          <p:nvPr/>
        </p:nvSpPr>
        <p:spPr>
          <a:xfrm>
            <a:off x="1005840" y="4663440"/>
            <a:ext cx="320040" cy="320040"/>
          </a:xfrm>
          <a:prstGeom prst="rect">
            <a:avLst/>
          </a:prstGeom>
          <a:solidFill>
            <a:srgbClr val="B8863C"/>
          </a:solidFill>
          <a:ln/>
        </p:spPr>
        <p:txBody>
          <a:bodyPr/>
          <a:lstStyle/>
          <a:p>
            <a:endParaRPr lang="en-GB"/>
          </a:p>
        </p:txBody>
      </p:sp>
      <p:sp>
        <p:nvSpPr>
          <p:cNvPr id="9" name="Shape 7"/>
          <p:cNvSpPr/>
          <p:nvPr/>
        </p:nvSpPr>
        <p:spPr>
          <a:xfrm>
            <a:off x="1463040" y="4663440"/>
            <a:ext cx="320040" cy="320040"/>
          </a:xfrm>
          <a:prstGeom prst="rect">
            <a:avLst/>
          </a:prstGeom>
          <a:solidFill>
            <a:srgbClr val="FFFFFF"/>
          </a:solidFill>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4D7C00-608A-53E5-CDAC-046A6B976EE1}"/>
              </a:ext>
            </a:extLst>
          </p:cNvPr>
          <p:cNvPicPr>
            <a:picLocks noChangeAspect="1"/>
          </p:cNvPicPr>
          <p:nvPr/>
        </p:nvPicPr>
        <p:blipFill>
          <a:blip r:embed="rId2"/>
          <a:stretch>
            <a:fillRect/>
          </a:stretch>
        </p:blipFill>
        <p:spPr>
          <a:xfrm>
            <a:off x="2713124" y="1738821"/>
            <a:ext cx="6858352" cy="4445228"/>
          </a:xfrm>
          <a:prstGeom prst="rect">
            <a:avLst/>
          </a:prstGeom>
        </p:spPr>
      </p:pic>
      <p:sp>
        <p:nvSpPr>
          <p:cNvPr id="5" name="Title 1">
            <a:extLst>
              <a:ext uri="{FF2B5EF4-FFF2-40B4-BE49-F238E27FC236}">
                <a16:creationId xmlns:a16="http://schemas.microsoft.com/office/drawing/2014/main" id="{6BB7672F-D3F4-592C-CE56-718809FE910D}"/>
              </a:ext>
            </a:extLst>
          </p:cNvPr>
          <p:cNvSpPr>
            <a:spLocks noGrp="1"/>
          </p:cNvSpPr>
          <p:nvPr>
            <p:ph type="title"/>
          </p:nvPr>
        </p:nvSpPr>
        <p:spPr>
          <a:xfrm>
            <a:off x="1426437" y="43768"/>
            <a:ext cx="9404723" cy="839635"/>
          </a:xfrm>
        </p:spPr>
        <p:txBody>
          <a:bodyPr>
            <a:noAutofit/>
          </a:bodyPr>
          <a:lstStyle/>
          <a:p>
            <a:pPr algn="ctr"/>
            <a:r>
              <a:rPr lang="en-GB" sz="3000" b="1" dirty="0">
                <a:latin typeface="Arial" panose="020B0604020202020204" pitchFamily="34" charset="0"/>
                <a:cs typeface="Arial" panose="020B0604020202020204" pitchFamily="34" charset="0"/>
              </a:rPr>
              <a:t>THE 11+ SYLLABUS </a:t>
            </a:r>
          </a:p>
        </p:txBody>
      </p:sp>
    </p:spTree>
    <p:extLst>
      <p:ext uri="{BB962C8B-B14F-4D97-AF65-F5344CB8AC3E}">
        <p14:creationId xmlns:p14="http://schemas.microsoft.com/office/powerpoint/2010/main" val="791463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1051560"/>
            <a:ext cx="9144000" cy="640080"/>
          </a:xfrm>
          <a:prstGeom prst="rect">
            <a:avLst/>
          </a:prstGeom>
          <a:noFill/>
          <a:ln/>
        </p:spPr>
        <p:txBody>
          <a:bodyPr wrap="square" lIns="0" tIns="0" rIns="0" bIns="0" rtlCol="0" anchor="ctr"/>
          <a:lstStyle/>
          <a:p>
            <a:pPr marL="0" indent="0">
              <a:buNone/>
            </a:pPr>
            <a:r>
              <a:rPr lang="en-US" sz="3000" b="1" dirty="0">
                <a:solidFill>
                  <a:srgbClr val="085041"/>
                </a:solidFill>
                <a:latin typeface="Cambria" pitchFamily="34" charset="0"/>
                <a:ea typeface="Cambria" pitchFamily="34" charset="-122"/>
                <a:cs typeface="Cambria" pitchFamily="34" charset="-120"/>
              </a:rPr>
              <a:t>The F.I.T. Model</a:t>
            </a:r>
            <a:endParaRPr lang="en-US" sz="3000" dirty="0"/>
          </a:p>
        </p:txBody>
      </p:sp>
      <p:sp>
        <p:nvSpPr>
          <p:cNvPr id="5" name="Text 3"/>
          <p:cNvSpPr/>
          <p:nvPr/>
        </p:nvSpPr>
        <p:spPr>
          <a:xfrm>
            <a:off x="548640" y="1691640"/>
            <a:ext cx="11064240" cy="640080"/>
          </a:xfrm>
          <a:prstGeom prst="rect">
            <a:avLst/>
          </a:prstGeom>
          <a:noFill/>
          <a:ln/>
        </p:spPr>
        <p:txBody>
          <a:bodyPr wrap="square" lIns="0" tIns="0" rIns="0" bIns="0" rtlCol="0" anchor="ctr"/>
          <a:lstStyle/>
          <a:p>
            <a:pPr marL="0" indent="0">
              <a:buNone/>
            </a:pPr>
            <a:r>
              <a:rPr lang="en-US" sz="1300" dirty="0">
                <a:solidFill>
                  <a:srgbClr val="222222"/>
                </a:solidFill>
                <a:latin typeface="Calibri" pitchFamily="34" charset="0"/>
                <a:ea typeface="Calibri" pitchFamily="34" charset="-122"/>
                <a:cs typeface="Calibri" pitchFamily="34" charset="-120"/>
              </a:rPr>
              <a:t>Not all resources are created equal - the right book for one child may be the wrong book for another. Use these three questions alongside your child's diagnostic results to choose with purpose.</a:t>
            </a:r>
            <a:endParaRPr lang="en-US" sz="1300" dirty="0"/>
          </a:p>
        </p:txBody>
      </p:sp>
      <p:sp>
        <p:nvSpPr>
          <p:cNvPr id="6" name="Shape 4"/>
          <p:cNvSpPr/>
          <p:nvPr/>
        </p:nvSpPr>
        <p:spPr>
          <a:xfrm>
            <a:off x="548640" y="2560320"/>
            <a:ext cx="3566160" cy="3566160"/>
          </a:xfrm>
          <a:prstGeom prst="roundRect">
            <a:avLst>
              <a:gd name="adj" fmla="val 3077"/>
            </a:avLst>
          </a:prstGeom>
          <a:solidFill>
            <a:srgbClr val="085041"/>
          </a:solidFill>
          <a:ln/>
        </p:spPr>
        <p:txBody>
          <a:bodyPr/>
          <a:lstStyle/>
          <a:p>
            <a:endParaRPr lang="en-GB"/>
          </a:p>
        </p:txBody>
      </p:sp>
      <p:sp>
        <p:nvSpPr>
          <p:cNvPr id="7" name="Text 5"/>
          <p:cNvSpPr/>
          <p:nvPr/>
        </p:nvSpPr>
        <p:spPr>
          <a:xfrm>
            <a:off x="822960" y="2834640"/>
            <a:ext cx="1371600"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F.</a:t>
            </a:r>
            <a:endParaRPr lang="en-US" sz="5400" dirty="0"/>
          </a:p>
        </p:txBody>
      </p:sp>
      <p:sp>
        <p:nvSpPr>
          <p:cNvPr id="8" name="Text 6"/>
          <p:cNvSpPr/>
          <p:nvPr/>
        </p:nvSpPr>
        <p:spPr>
          <a:xfrm>
            <a:off x="822960" y="3794760"/>
            <a:ext cx="3017520" cy="6400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Fit to Exam Board</a:t>
            </a:r>
            <a:endParaRPr lang="en-US" sz="1600" dirty="0"/>
          </a:p>
        </p:txBody>
      </p:sp>
      <p:sp>
        <p:nvSpPr>
          <p:cNvPr id="9" name="Text 7"/>
          <p:cNvSpPr/>
          <p:nvPr/>
        </p:nvSpPr>
        <p:spPr>
          <a:xfrm>
            <a:off x="822960" y="4434840"/>
            <a:ext cx="3017520" cy="155448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Does this resource match the specific question styles, content and format of my child's target exam (GL, Cambridge Select Insights or school's own)?</a:t>
            </a:r>
            <a:endParaRPr lang="en-US" sz="1200" dirty="0"/>
          </a:p>
        </p:txBody>
      </p:sp>
      <p:sp>
        <p:nvSpPr>
          <p:cNvPr id="10" name="Shape 8"/>
          <p:cNvSpPr/>
          <p:nvPr/>
        </p:nvSpPr>
        <p:spPr>
          <a:xfrm>
            <a:off x="4343400" y="2560320"/>
            <a:ext cx="3566160" cy="3566160"/>
          </a:xfrm>
          <a:prstGeom prst="roundRect">
            <a:avLst>
              <a:gd name="adj" fmla="val 3077"/>
            </a:avLst>
          </a:prstGeom>
          <a:solidFill>
            <a:srgbClr val="FF7451"/>
          </a:solidFill>
          <a:ln/>
        </p:spPr>
        <p:txBody>
          <a:bodyPr/>
          <a:lstStyle/>
          <a:p>
            <a:endParaRPr lang="en-GB"/>
          </a:p>
        </p:txBody>
      </p:sp>
      <p:sp>
        <p:nvSpPr>
          <p:cNvPr id="11" name="Text 9"/>
          <p:cNvSpPr/>
          <p:nvPr/>
        </p:nvSpPr>
        <p:spPr>
          <a:xfrm>
            <a:off x="4617720" y="2834640"/>
            <a:ext cx="1371600"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I.</a:t>
            </a:r>
            <a:endParaRPr lang="en-US" sz="5400" dirty="0"/>
          </a:p>
        </p:txBody>
      </p:sp>
      <p:sp>
        <p:nvSpPr>
          <p:cNvPr id="12" name="Text 10"/>
          <p:cNvSpPr/>
          <p:nvPr/>
        </p:nvSpPr>
        <p:spPr>
          <a:xfrm>
            <a:off x="4617720" y="3794760"/>
            <a:ext cx="3017520" cy="6400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Impact on Skill Gap</a:t>
            </a:r>
            <a:endParaRPr lang="en-US" sz="1600" dirty="0"/>
          </a:p>
        </p:txBody>
      </p:sp>
      <p:sp>
        <p:nvSpPr>
          <p:cNvPr id="13" name="Text 11"/>
          <p:cNvSpPr/>
          <p:nvPr/>
        </p:nvSpPr>
        <p:spPr>
          <a:xfrm>
            <a:off x="4617720" y="4434840"/>
            <a:ext cx="3017520" cy="155448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Does this resource directly target my child's specific weakness right now? Will it help them practise the exact skill we identified and aid progression?</a:t>
            </a:r>
            <a:endParaRPr lang="en-US" sz="1200" dirty="0"/>
          </a:p>
        </p:txBody>
      </p:sp>
      <p:sp>
        <p:nvSpPr>
          <p:cNvPr id="14" name="Shape 12"/>
          <p:cNvSpPr/>
          <p:nvPr/>
        </p:nvSpPr>
        <p:spPr>
          <a:xfrm>
            <a:off x="8138160" y="2560320"/>
            <a:ext cx="3566160" cy="3566160"/>
          </a:xfrm>
          <a:prstGeom prst="roundRect">
            <a:avLst>
              <a:gd name="adj" fmla="val 3077"/>
            </a:avLst>
          </a:prstGeom>
          <a:solidFill>
            <a:srgbClr val="B8863C"/>
          </a:solidFill>
          <a:ln/>
        </p:spPr>
        <p:txBody>
          <a:bodyPr/>
          <a:lstStyle/>
          <a:p>
            <a:endParaRPr lang="en-GB"/>
          </a:p>
        </p:txBody>
      </p:sp>
      <p:sp>
        <p:nvSpPr>
          <p:cNvPr id="15" name="Text 13"/>
          <p:cNvSpPr/>
          <p:nvPr/>
        </p:nvSpPr>
        <p:spPr>
          <a:xfrm>
            <a:off x="8412480" y="2834640"/>
            <a:ext cx="1371600"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a:t>
            </a:r>
            <a:endParaRPr lang="en-US" sz="5400" dirty="0"/>
          </a:p>
        </p:txBody>
      </p:sp>
      <p:sp>
        <p:nvSpPr>
          <p:cNvPr id="16" name="Text 14"/>
          <p:cNvSpPr/>
          <p:nvPr/>
        </p:nvSpPr>
        <p:spPr>
          <a:xfrm>
            <a:off x="8412480" y="3794760"/>
            <a:ext cx="3017520" cy="6400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Time-Efficient and Engaging</a:t>
            </a:r>
            <a:endParaRPr lang="en-US" sz="1600" dirty="0"/>
          </a:p>
        </p:txBody>
      </p:sp>
      <p:sp>
        <p:nvSpPr>
          <p:cNvPr id="17" name="Text 15"/>
          <p:cNvSpPr/>
          <p:nvPr/>
        </p:nvSpPr>
        <p:spPr>
          <a:xfrm>
            <a:off x="8412480" y="4434840"/>
            <a:ext cx="3017520" cy="155448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Can this resource deliver the practice we need in a focused session? Is it engaging enough to maintain effort and motivation?</a:t>
            </a:r>
            <a:endParaRPr lang="en-US" sz="1200" dirty="0"/>
          </a:p>
        </p:txBody>
      </p:sp>
      <p:sp>
        <p:nvSpPr>
          <p:cNvPr id="18" name="Text 16"/>
          <p:cNvSpPr/>
          <p:nvPr/>
        </p:nvSpPr>
        <p:spPr>
          <a:xfrm>
            <a:off x="457200" y="6537960"/>
            <a:ext cx="82296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Jedon 11+ | F.I.T. Resource Guide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85041"/>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CFE8DE"/>
                </a:solidFill>
                <a:latin typeface="Calibri" pitchFamily="34" charset="0"/>
                <a:ea typeface="Calibri" pitchFamily="34" charset="-122"/>
                <a:cs typeface="Calibri" pitchFamily="34" charset="-120"/>
              </a:rPr>
              <a:t>NAVIGATING TOGETHER</a:t>
            </a:r>
            <a:endParaRPr lang="en-US" sz="800" dirty="0"/>
          </a:p>
        </p:txBody>
      </p:sp>
      <p:sp>
        <p:nvSpPr>
          <p:cNvPr id="4" name="Shape 2"/>
          <p:cNvSpPr/>
          <p:nvPr/>
        </p:nvSpPr>
        <p:spPr>
          <a:xfrm>
            <a:off x="548640" y="2743200"/>
            <a:ext cx="1280160" cy="1280160"/>
          </a:xfrm>
          <a:prstGeom prst="roundRect">
            <a:avLst>
              <a:gd name="adj" fmla="val 14286"/>
            </a:avLst>
          </a:prstGeom>
          <a:solidFill>
            <a:srgbClr val="FF7451"/>
          </a:solidFill>
          <a:ln/>
        </p:spPr>
        <p:txBody>
          <a:bodyPr/>
          <a:lstStyle/>
          <a:p>
            <a:endParaRPr lang="en-GB"/>
          </a:p>
        </p:txBody>
      </p:sp>
      <p:sp>
        <p:nvSpPr>
          <p:cNvPr id="5" name="Text 3"/>
          <p:cNvSpPr/>
          <p:nvPr/>
        </p:nvSpPr>
        <p:spPr>
          <a:xfrm>
            <a:off x="548640" y="2743200"/>
            <a:ext cx="1280160" cy="12801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E</a:t>
            </a:r>
            <a:endParaRPr lang="en-US" sz="4400" dirty="0"/>
          </a:p>
        </p:txBody>
      </p:sp>
      <p:sp>
        <p:nvSpPr>
          <p:cNvPr id="6" name="Text 4"/>
          <p:cNvSpPr/>
          <p:nvPr/>
        </p:nvSpPr>
        <p:spPr>
          <a:xfrm>
            <a:off x="2011680" y="2788920"/>
            <a:ext cx="941832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English</a:t>
            </a:r>
            <a:endParaRPr lang="en-US" sz="3400" dirty="0"/>
          </a:p>
        </p:txBody>
      </p:sp>
      <p:sp>
        <p:nvSpPr>
          <p:cNvPr id="7" name="Text 5"/>
          <p:cNvSpPr/>
          <p:nvPr/>
        </p:nvSpPr>
        <p:spPr>
          <a:xfrm>
            <a:off x="548640" y="4206240"/>
            <a:ext cx="10789920" cy="1463040"/>
          </a:xfrm>
          <a:prstGeom prst="rect">
            <a:avLst/>
          </a:prstGeom>
          <a:noFill/>
          <a:ln/>
        </p:spPr>
        <p:txBody>
          <a:bodyPr wrap="square" lIns="0" tIns="0" rIns="0" bIns="0" rtlCol="0" anchor="ctr"/>
          <a:lstStyle/>
          <a:p>
            <a:pPr marL="0" indent="0">
              <a:lnSpc>
                <a:spcPct val="130000"/>
              </a:lnSpc>
              <a:buNone/>
            </a:pPr>
            <a:r>
              <a:rPr lang="en-US" sz="1400" dirty="0">
                <a:solidFill>
                  <a:srgbClr val="E3F1EA"/>
                </a:solidFill>
                <a:latin typeface="Calibri" pitchFamily="34" charset="0"/>
                <a:ea typeface="Calibri" pitchFamily="34" charset="-122"/>
                <a:cs typeface="Calibri" pitchFamily="34" charset="-120"/>
              </a:rPr>
              <a:t>English in the 11+ tests comprehension, vocabulary, spelling, grammar, punctuation and in some schools creative writing. Resources should match your child's exam board format and target their specific English weakness rather than covering everything at once.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ENGLISH   1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First Aid in English</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Hodder Education / Angus Maciver</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Not exam-board specific but covers English knowledge tested across GL and Cambridge Select Insight Select Insight - idioms, acronyms, alliteration, countries and capitals, grammar rules and vocabulary.</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Targets specific English knowledge gaps that many children have. Idioms, acronyms such as NATO and BBC, alliteration and general knowledge are directly tested in GL English and VR papers.</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Use as a reference and teaching tool rather than a workbook. Work through one section per week. Test knowledge verbally.</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One section per week. Verbal testing of knowledge. Create a personal glossary of tricky idioms and abbreviations.</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with solid comprehension who lack the specific English knowledge tested in 11+ papers.</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4-6. Can be dipped into at any stage.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ENGLISH   5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Bond 11+ Focus on Comprehension</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Bond / Oxford University Press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a:lnSpc>
                <a:spcPct val="120000"/>
              </a:lnSpc>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GL and Cambridge Select Insight Select Insight editions available. Specifically designed to teach the technique of answering comprehension questions accurately and in depth. </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Teaches focused, deep comprehension technique - finding, interpreting and expressing answers correctly. Targets the biggest mark-losing area.</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a:lnSpc>
                <a:spcPct val="120000"/>
              </a:lnSpc>
            </a:pPr>
            <a:r>
              <a:rPr lang="en-US" sz="1150" b="1" dirty="0">
                <a:solidFill>
                  <a:srgbClr val="B8863C"/>
                </a:solidFill>
                <a:latin typeface="Calibri" pitchFamily="34" charset="0"/>
                <a:ea typeface="Calibri" pitchFamily="34" charset="-122"/>
                <a:cs typeface="Calibri" pitchFamily="34" charset="-120"/>
              </a:rPr>
              <a:t>Time:  Time:  </a:t>
            </a:r>
            <a:r>
              <a:rPr lang="en-US" sz="1150" dirty="0">
                <a:solidFill>
                  <a:srgbClr val="222222"/>
                </a:solidFill>
                <a:latin typeface="Calibri" pitchFamily="34" charset="0"/>
                <a:ea typeface="Calibri" pitchFamily="34" charset="-122"/>
                <a:cs typeface="Calibri" pitchFamily="34" charset="-120"/>
              </a:rPr>
              <a:t>Work through each passage together with your child initially. Discuss why each answer is correct. Build to independent practice. Child reads, annotates key points, then answers questions. Review technique not just correctness.</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One passage per session. Annotate before answering. Review technique not just correctness.</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read well but lose marks because they can't pinpoint or express the right answer clearly.</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4-6, throughout preparation.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ENGLISH   3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Bond 11+ English Assessment Papers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Bond / Oxford University Press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GL and Cambridge Select Insight Select Insight editions available. Match carefully to your target school - the papers look quite different.</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Best used after identifying a specific weakness such as comprehension inference or vocabulary. Work topic by topic not paper by paper.</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One paper per week under timed conditions. Mark together, discuss every incorrect answer before moving on.</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One paper per week timed. Mark together. Discuss every wrong answer before moving on.</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need structured exam-style practice across all English topics.</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4 upwards. Best for consolidation in Years 5-6.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ENGLISH   4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English Study and Practice Book</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Schofield and Sims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Covers GL and Cambridge Select Insight Select Insight question types. Strong on comprehension skills which appear in both.</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Ideal if your child understands English at school level but struggles with the specific format of 11+ comprehension questions.</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Start at the beginning of each chapter regardless of confidence - the technique notes are valuable even for stronger children.</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Read technique notes together. Child completes practice questions independently. Review together.</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beginning 11+ English preparation who need explanation before practice.</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4-5. Ideal starting point before timed papers.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ENGLISH   6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GL English Practice Book and Assessment Tests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CGP Books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GL-specific edition. Also available for Cambridge Select Insight Select Insight. One of the best for matching GL question style exactly.</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Strong on spelling, punctuation and grammar which are explicitly tested under GL. Use the topic-based section first to isolate weak areas.</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20 minutes per session, one topic at a time. Use the pull-out answers to self-mark immediately.</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Topic-focused first half then timed assessment tests. Alternate between both throughout preparation.</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GL candidates who need targeted SPaG practice alongside comprehension.</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5-6.</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5041"/>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CFE8DE"/>
                </a:solidFill>
                <a:latin typeface="Calibri" pitchFamily="34" charset="0"/>
                <a:ea typeface="Calibri" pitchFamily="34" charset="-122"/>
                <a:cs typeface="Calibri" pitchFamily="34" charset="-120"/>
              </a:rPr>
              <a:t>NAVIGATING TOGETHER</a:t>
            </a:r>
            <a:endParaRPr lang="en-US" sz="800" dirty="0"/>
          </a:p>
        </p:txBody>
      </p:sp>
      <p:sp>
        <p:nvSpPr>
          <p:cNvPr id="4" name="Shape 2"/>
          <p:cNvSpPr/>
          <p:nvPr/>
        </p:nvSpPr>
        <p:spPr>
          <a:xfrm>
            <a:off x="548640" y="2743200"/>
            <a:ext cx="1280160" cy="1280160"/>
          </a:xfrm>
          <a:prstGeom prst="roundRect">
            <a:avLst>
              <a:gd name="adj" fmla="val 14286"/>
            </a:avLst>
          </a:prstGeom>
          <a:solidFill>
            <a:srgbClr val="FF7451"/>
          </a:solidFill>
          <a:ln/>
        </p:spPr>
        <p:txBody>
          <a:bodyPr/>
          <a:lstStyle/>
          <a:p>
            <a:endParaRPr lang="en-GB"/>
          </a:p>
        </p:txBody>
      </p:sp>
      <p:sp>
        <p:nvSpPr>
          <p:cNvPr id="5" name="Text 3"/>
          <p:cNvSpPr/>
          <p:nvPr/>
        </p:nvSpPr>
        <p:spPr>
          <a:xfrm>
            <a:off x="548640" y="2743200"/>
            <a:ext cx="1280160" cy="12801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M</a:t>
            </a:r>
            <a:endParaRPr lang="en-US" sz="4400" dirty="0"/>
          </a:p>
        </p:txBody>
      </p:sp>
      <p:sp>
        <p:nvSpPr>
          <p:cNvPr id="6" name="Text 4"/>
          <p:cNvSpPr/>
          <p:nvPr/>
        </p:nvSpPr>
        <p:spPr>
          <a:xfrm>
            <a:off x="2011680" y="2788920"/>
            <a:ext cx="941832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Mathematics</a:t>
            </a:r>
            <a:endParaRPr lang="en-US" sz="3400" dirty="0"/>
          </a:p>
        </p:txBody>
      </p:sp>
      <p:sp>
        <p:nvSpPr>
          <p:cNvPr id="7" name="Text 5"/>
          <p:cNvSpPr/>
          <p:nvPr/>
        </p:nvSpPr>
        <p:spPr>
          <a:xfrm>
            <a:off x="548640" y="4206240"/>
            <a:ext cx="10789920" cy="1463040"/>
          </a:xfrm>
          <a:prstGeom prst="rect">
            <a:avLst/>
          </a:prstGeom>
          <a:noFill/>
          <a:ln/>
        </p:spPr>
        <p:txBody>
          <a:bodyPr wrap="square" lIns="0" tIns="0" rIns="0" bIns="0" rtlCol="0" anchor="ctr"/>
          <a:lstStyle/>
          <a:p>
            <a:pPr marL="0" indent="0">
              <a:lnSpc>
                <a:spcPct val="130000"/>
              </a:lnSpc>
              <a:buNone/>
            </a:pPr>
            <a:r>
              <a:rPr lang="en-US" sz="1400" dirty="0">
                <a:solidFill>
                  <a:srgbClr val="E3F1EA"/>
                </a:solidFill>
                <a:latin typeface="Calibri" pitchFamily="34" charset="0"/>
                <a:ea typeface="Calibri" pitchFamily="34" charset="-122"/>
                <a:cs typeface="Calibri" pitchFamily="34" charset="-120"/>
              </a:rPr>
              <a:t>Maths in the 11+ is based on the KS2 curriculum but questions are often harder and more time-pressured than school tests. The key skill to build is speed and accuracy under timed conditions. Resources should build topic knowledge first then move to timed mixed-topic practice.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MATHEMATICS   1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KS2 Maths Year 4 and Year 5 Targeted Books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CGP Books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KS2 curriculum aligned. Not 11+ specific but covers the foundation that underpins all 11+ Maths content.</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Targets the curriculum knowledge gap before 11+ specific practice. If a child cannot do Year 4/5 Maths confidently, 11+ papers will be too difficult and demoralising.</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Use the Year 4 book first if there are gaps in number, fractions or shape. Only begin 11+ specific resources once curriculum knowledge is secure.</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Topic by topic. Test knowledge at the end of each topic. Do not rush.</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in Years 3-5 who need to build or consolidate the KS2 Maths foundation.</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3-5, before any 11+ specific Maths resources.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MATHEMATICS   2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GL Maths Problem Solving</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CGP Books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GL-specific. Covers multi-step word problems and applied reasoning questions - the question types children find most challenging.</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Targets the problem-solving gap. Many children can calculate but struggle when Maths is presented as a word problem requiring multi-step reasoning.</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Work through problems step by step. Encourage writing down each step. Marking without seeing the working tells you nothing.</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Always show working. Discuss approach before calculating. Review by identifying which step went wrong.</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confident with calculation but who lose marks on applied/word problems.</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5-6.</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MATHEMATICS   3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Problem Solving</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Bond / Oxford University Press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Covers problem solving and multi-step reasoning across both GL and Cambridge Select Insight Select Insight formats.</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Builds the logical, sequential thinking needed for complex exam questions. Targets reasoning rather than recall.</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Use alongside rather than instead of standard Maths papers. One session per week builds the reasoning muscle.</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One session per week alongside regular Maths papers. Focus on explaining every step.</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need to develop logical step-by-step reasoning.</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5-6, alongside standard Maths papers.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MATHEMATICS   4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Maths Assessment Papers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Bond / Oxford University Press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Available for GL and Cambridge Select Insight Select Insight. GL Maths and Cambridge Select Insight Select Insight Numerical Reasoning have different formats - check the edition.</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Use the topic index at the back to identify which topics are dropping marks, and revisit those specifically.</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Timed practice once per week. Review errors immediately. Keep a running list of topics where errors occur.</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Timed weekly. Error tracking per topic. Targeted revision between papers.</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need regular timed practice across all Maths topics.</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4-6.</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MATHEMATICS   5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GL Maths Practice Book and Assessment Tests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CGP Books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GL-specific. Also available as Cambridge Select Insight Select Insight edition. Online edition included, which children often find more engaging.</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Excellent topic-by-topic section for targeted practice on weak areas such as fractions, ratio or word problems.</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Work through topic sections first. Only move to timed assessment tests once topic scores are consistently above 80%.</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Topic section first. Timed tests second. Online edition for extra engagement.</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need stronger topic foundations before timed practice.</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4-5 for topic work; Year 6 for timed tests.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MATHEMATICS   6 / 6</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Maths Rapid Tests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Schofield and Sims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Covers both GL and Cambridge Select Insight Select Insight question types. Short timed tests rather than full papers.</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Ideal for building speed. If a child knows the Maths but is running out of time, these 8-12 minute tests build the pace needed.</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Daily 10-minute practice sessions. Track score and time each session, aiming to improve both together.</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10 minutes daily. Time every session. Track score and pace week on week.</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know the content but need to build speed and fluency.</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5 onwards; especially effective in the final 3 months.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5041"/>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CFE8DE"/>
                </a:solidFill>
                <a:latin typeface="Calibri" pitchFamily="34" charset="0"/>
                <a:ea typeface="Calibri" pitchFamily="34" charset="-122"/>
                <a:cs typeface="Calibri" pitchFamily="34" charset="-120"/>
              </a:rPr>
              <a:t>NAVIGATING TOGETHER</a:t>
            </a:r>
            <a:endParaRPr lang="en-US" sz="800" dirty="0"/>
          </a:p>
        </p:txBody>
      </p:sp>
      <p:sp>
        <p:nvSpPr>
          <p:cNvPr id="4" name="Shape 2"/>
          <p:cNvSpPr/>
          <p:nvPr/>
        </p:nvSpPr>
        <p:spPr>
          <a:xfrm>
            <a:off x="548640" y="2743200"/>
            <a:ext cx="1280160" cy="1280160"/>
          </a:xfrm>
          <a:prstGeom prst="roundRect">
            <a:avLst>
              <a:gd name="adj" fmla="val 14286"/>
            </a:avLst>
          </a:prstGeom>
          <a:solidFill>
            <a:srgbClr val="FF7451"/>
          </a:solidFill>
          <a:ln/>
        </p:spPr>
        <p:txBody>
          <a:bodyPr/>
          <a:lstStyle/>
          <a:p>
            <a:endParaRPr lang="en-GB"/>
          </a:p>
        </p:txBody>
      </p:sp>
      <p:sp>
        <p:nvSpPr>
          <p:cNvPr id="5" name="Text 3"/>
          <p:cNvSpPr/>
          <p:nvPr/>
        </p:nvSpPr>
        <p:spPr>
          <a:xfrm>
            <a:off x="548640" y="2743200"/>
            <a:ext cx="1280160" cy="12801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V</a:t>
            </a:r>
            <a:endParaRPr lang="en-US" sz="4400" dirty="0"/>
          </a:p>
        </p:txBody>
      </p:sp>
      <p:sp>
        <p:nvSpPr>
          <p:cNvPr id="6" name="Text 4"/>
          <p:cNvSpPr/>
          <p:nvPr/>
        </p:nvSpPr>
        <p:spPr>
          <a:xfrm>
            <a:off x="2011680" y="2788920"/>
            <a:ext cx="941832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Verbal Reasoning</a:t>
            </a:r>
            <a:endParaRPr lang="en-US" sz="3400" dirty="0"/>
          </a:p>
        </p:txBody>
      </p:sp>
      <p:sp>
        <p:nvSpPr>
          <p:cNvPr id="7" name="Text 5"/>
          <p:cNvSpPr/>
          <p:nvPr/>
        </p:nvSpPr>
        <p:spPr>
          <a:xfrm>
            <a:off x="548640" y="4206240"/>
            <a:ext cx="10789920" cy="1463040"/>
          </a:xfrm>
          <a:prstGeom prst="rect">
            <a:avLst/>
          </a:prstGeom>
          <a:noFill/>
          <a:ln/>
        </p:spPr>
        <p:txBody>
          <a:bodyPr wrap="square" lIns="0" tIns="0" rIns="0" bIns="0" rtlCol="0" anchor="ctr"/>
          <a:lstStyle/>
          <a:p>
            <a:pPr marL="0" indent="0">
              <a:lnSpc>
                <a:spcPct val="130000"/>
              </a:lnSpc>
              <a:buNone/>
            </a:pPr>
            <a:r>
              <a:rPr lang="en-US" sz="1400" dirty="0">
                <a:solidFill>
                  <a:srgbClr val="E3F1EA"/>
                </a:solidFill>
                <a:latin typeface="Calibri" pitchFamily="34" charset="0"/>
                <a:ea typeface="Calibri" pitchFamily="34" charset="-122"/>
                <a:cs typeface="Calibri" pitchFamily="34" charset="-120"/>
              </a:rPr>
              <a:t>Verbal Reasoning is not taught in primary school. Children need to be introduced to the question types before they can practise them effectively. Always start with a technique or study book before moving to timed papers. Consistent short daily practice outperforms weekly long sessions for VR.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VERBAL REASONING   1 / 3</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Verbal Reasoning Method and Technique</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IPS (AE Publications)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GL-specific. One of the best resources for GL Verbal Reasoning question types, covering over 20 question types.</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A teaching resource that introduces VR question types through worked methods, with embedded practice questions to reinforce each technique.</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One question type per session with a parent or tutor explaining the method. Move to timed papers once all types are covered.</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One question type per session. Tutor/parent teaches the method. Child explains it back. Move to Bond papers once complete.</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starting VR preparation for the first time, ideally with a parent or tutor.</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4-5, before any timed VR papers.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VERBAL REASONING   2 / 3</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Verbal Reasoning Assessment Papers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Bond / Oxford University Press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Available for GL and Cambridge Select Insight Select Insight. GL edition covers the 21 GL VR question types; Cambridge Select Insight Select Insight has a different format.</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Once question types are understood from IPS, Bond provides the volume of mixed practice needed to build speed and accuracy.</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Use after IPS technique work is complete. One paper per week under timed conditions.</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Weekly timed papers. Error analysis by question type. Return to IPS notes for any type still causing errors.</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have completed technique learning and need timed exam practice.</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5-6, after technique foundation is in place.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VERBAL REASONING   3 / 3</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GL Verbal Reasoning Study Book</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CGP Books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GL-specific. Includes a Parents' Guide, genuinely useful for parents new to VR. Cambridge Select Insight Select Insight edition also available.</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Strong on explanation and worked examples. The Parent's Guide helps parents support their child at home effectively.</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Parent reads the guide section first. Child works through study notes with parent initially, then independently.</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Parent and child work through together initially. Child becomes independent over time.</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Parents who want to understand VR well enough to support their child at home.</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4-5, a bridge between IPS and timed papers.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5041"/>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CFE8DE"/>
                </a:solidFill>
                <a:latin typeface="Calibri" pitchFamily="34" charset="0"/>
                <a:ea typeface="Calibri" pitchFamily="34" charset="-122"/>
                <a:cs typeface="Calibri" pitchFamily="34" charset="-120"/>
              </a:rPr>
              <a:t>NAVIGATING TOGETHER</a:t>
            </a:r>
            <a:endParaRPr lang="en-US" sz="800" dirty="0"/>
          </a:p>
        </p:txBody>
      </p:sp>
      <p:sp>
        <p:nvSpPr>
          <p:cNvPr id="4" name="Shape 2"/>
          <p:cNvSpPr/>
          <p:nvPr/>
        </p:nvSpPr>
        <p:spPr>
          <a:xfrm>
            <a:off x="548640" y="2743200"/>
            <a:ext cx="1280160" cy="1280160"/>
          </a:xfrm>
          <a:prstGeom prst="roundRect">
            <a:avLst>
              <a:gd name="adj" fmla="val 14286"/>
            </a:avLst>
          </a:prstGeom>
          <a:solidFill>
            <a:srgbClr val="FF7451"/>
          </a:solidFill>
          <a:ln/>
        </p:spPr>
        <p:txBody>
          <a:bodyPr/>
          <a:lstStyle/>
          <a:p>
            <a:endParaRPr lang="en-GB"/>
          </a:p>
        </p:txBody>
      </p:sp>
      <p:sp>
        <p:nvSpPr>
          <p:cNvPr id="5" name="Text 3"/>
          <p:cNvSpPr/>
          <p:nvPr/>
        </p:nvSpPr>
        <p:spPr>
          <a:xfrm>
            <a:off x="548640" y="2743200"/>
            <a:ext cx="1280160" cy="12801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N</a:t>
            </a:r>
            <a:endParaRPr lang="en-US" sz="4400" dirty="0"/>
          </a:p>
        </p:txBody>
      </p:sp>
      <p:sp>
        <p:nvSpPr>
          <p:cNvPr id="6" name="Text 4"/>
          <p:cNvSpPr/>
          <p:nvPr/>
        </p:nvSpPr>
        <p:spPr>
          <a:xfrm>
            <a:off x="2011680" y="2788920"/>
            <a:ext cx="941832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Non-Verbal Reasoning</a:t>
            </a:r>
            <a:endParaRPr lang="en-US" sz="3400" dirty="0"/>
          </a:p>
        </p:txBody>
      </p:sp>
      <p:sp>
        <p:nvSpPr>
          <p:cNvPr id="7" name="Text 5"/>
          <p:cNvSpPr/>
          <p:nvPr/>
        </p:nvSpPr>
        <p:spPr>
          <a:xfrm>
            <a:off x="548640" y="4206240"/>
            <a:ext cx="10789920" cy="1463040"/>
          </a:xfrm>
          <a:prstGeom prst="rect">
            <a:avLst/>
          </a:prstGeom>
          <a:noFill/>
          <a:ln/>
        </p:spPr>
        <p:txBody>
          <a:bodyPr wrap="square" lIns="0" tIns="0" rIns="0" bIns="0" rtlCol="0" anchor="ctr"/>
          <a:lstStyle/>
          <a:p>
            <a:pPr marL="0" indent="0">
              <a:lnSpc>
                <a:spcPct val="130000"/>
              </a:lnSpc>
              <a:buNone/>
            </a:pPr>
            <a:r>
              <a:rPr lang="en-US" sz="1400" dirty="0">
                <a:solidFill>
                  <a:srgbClr val="E3F1EA"/>
                </a:solidFill>
                <a:latin typeface="Calibri" pitchFamily="34" charset="0"/>
                <a:ea typeface="Calibri" pitchFamily="34" charset="-122"/>
                <a:cs typeface="Calibri" pitchFamily="34" charset="-120"/>
              </a:rPr>
              <a:t>Non-Verbal Reasoning requires children to think visually and logically without using words or numbers. Like VR it is not taught in primary school. Pattern recognition improves rapidly with regular practice - short daily sessions work better than occasional long ones.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NON-VERBAL REASONING   1 / 3</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NVR Study and Practice Book</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Schofield and Sims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Covers all main NVR question types for both GL and Cambridge Select Insight Select Insight. A good starting point for either exam board.</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The worked-example method in each chapter helps children approach unfamiliar shape questions - key since NVR questions vary significantly.</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One chapter per session. Child should explain their reasoning out loud - this checks understanding, not just guessing.</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Chapter by chapter. Verbal explanation of reasoning. Practice pages before moving on.</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new to NVR who need structured technique introduction.</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4-5, before timed NVR papers.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NON-VERBAL REASONING   2 / 3</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Non-Verbal Reasoning Assessment Papers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Bond / Oxford University Press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Available for GL and Cambridge Select Insight Select Insight. GL also includes Spatial Reasoning in the same paper.</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Provides the volume of mixed NVR practice needed to build speed and identify which question types a child consistently struggles with.</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Timed practice. After marking, categorise errors by question type. Revisit the study book for weak types.</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Timed papers weekly. Error categorisation. Targeted review of weak types.</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have completed NVR technique learning and need mixed timed practice.</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5-6.</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NON-VERBAL REASONING   3 / 3</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GL NVR Practice Book and Assessment Tests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CGP Books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GL-specific. Also available for Cambridge Select Insight Select Insight. One of the most visually clear NVR resources - important since NVR is a visual subject.</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Visual clarity reduces the chance of children misreading shape questions, a common source of errors in NVR.</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Topic-based section for weak areas. Timed assessment tests for overall practice. Online edition for screen-based practice.</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Mix topic work and full papers. Use the online edition for variety.</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benefit from clear visual presentation and online practice.</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5-6.</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85041"/>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CFE8DE"/>
                </a:solidFill>
                <a:latin typeface="Calibri" pitchFamily="34" charset="0"/>
                <a:ea typeface="Calibri" pitchFamily="34" charset="-122"/>
                <a:cs typeface="Calibri" pitchFamily="34" charset="-120"/>
              </a:rPr>
              <a:t>NAVIGATING TOGETHER</a:t>
            </a:r>
            <a:endParaRPr lang="en-US" sz="800" dirty="0"/>
          </a:p>
        </p:txBody>
      </p:sp>
      <p:sp>
        <p:nvSpPr>
          <p:cNvPr id="4" name="Shape 2"/>
          <p:cNvSpPr/>
          <p:nvPr/>
        </p:nvSpPr>
        <p:spPr>
          <a:xfrm>
            <a:off x="548640" y="2743200"/>
            <a:ext cx="1280160" cy="1280160"/>
          </a:xfrm>
          <a:prstGeom prst="roundRect">
            <a:avLst>
              <a:gd name="adj" fmla="val 14286"/>
            </a:avLst>
          </a:prstGeom>
          <a:solidFill>
            <a:srgbClr val="FF7451"/>
          </a:solidFill>
          <a:ln/>
        </p:spPr>
        <p:txBody>
          <a:bodyPr/>
          <a:lstStyle/>
          <a:p>
            <a:endParaRPr lang="en-GB"/>
          </a:p>
        </p:txBody>
      </p:sp>
      <p:sp>
        <p:nvSpPr>
          <p:cNvPr id="5" name="Text 3"/>
          <p:cNvSpPr/>
          <p:nvPr/>
        </p:nvSpPr>
        <p:spPr>
          <a:xfrm>
            <a:off x="548640" y="2743200"/>
            <a:ext cx="1280160" cy="12801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S</a:t>
            </a:r>
            <a:endParaRPr lang="en-US" sz="4400" dirty="0"/>
          </a:p>
        </p:txBody>
      </p:sp>
      <p:sp>
        <p:nvSpPr>
          <p:cNvPr id="6" name="Text 4"/>
          <p:cNvSpPr/>
          <p:nvPr/>
        </p:nvSpPr>
        <p:spPr>
          <a:xfrm>
            <a:off x="2011680" y="2788920"/>
            <a:ext cx="941832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Spatial Reasoning</a:t>
            </a:r>
            <a:endParaRPr lang="en-US" sz="3400" dirty="0"/>
          </a:p>
        </p:txBody>
      </p:sp>
      <p:sp>
        <p:nvSpPr>
          <p:cNvPr id="7" name="Text 5"/>
          <p:cNvSpPr/>
          <p:nvPr/>
        </p:nvSpPr>
        <p:spPr>
          <a:xfrm>
            <a:off x="548640" y="4206240"/>
            <a:ext cx="10789920" cy="1463040"/>
          </a:xfrm>
          <a:prstGeom prst="rect">
            <a:avLst/>
          </a:prstGeom>
          <a:noFill/>
          <a:ln/>
        </p:spPr>
        <p:txBody>
          <a:bodyPr wrap="square" lIns="0" tIns="0" rIns="0" bIns="0" rtlCol="0" anchor="ctr"/>
          <a:lstStyle/>
          <a:p>
            <a:pPr marL="0" indent="0">
              <a:lnSpc>
                <a:spcPct val="130000"/>
              </a:lnSpc>
              <a:buNone/>
            </a:pPr>
            <a:r>
              <a:rPr lang="en-US" sz="1400" dirty="0">
                <a:solidFill>
                  <a:srgbClr val="E3F1EA"/>
                </a:solidFill>
                <a:latin typeface="Calibri" pitchFamily="34" charset="0"/>
                <a:ea typeface="Calibri" pitchFamily="34" charset="-122"/>
                <a:cs typeface="Calibri" pitchFamily="34" charset="-120"/>
              </a:rPr>
              <a:t>Spatial Reasoning is now part of GL Assessment as of 2025 and includes 3D shape rotation, cube nets, mirror images, block counting and 2D plans. It is not taught in primary school and many parents and tutors are unfamiliar with it. Start early and use resources specifically designed for Spatial Reasoning rather than relying on general NVR books.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SPATIAL REASONING   1 / 5</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GL NVR Spatial 10-Minute Tests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CGP Books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GL-specific Spatial Reasoning. One of very few resources dedicated specifically to Spatial Reasoning. Updated for 2025.</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Directly targets the Spatial Reasoning gap most children will have, since it is not taught at school. The timed format builds speed and accuracy.</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One test daily or every other day. Short, frequent practice beats long, occasional sessions.</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Daily 10-minute sessions. Mark immediately. Focus on cube nets and 3D rotation.</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All children sitting GL Assessment from 2025 onwards.</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Begin Year 4-5, maintain throughout Year 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SPATIAL REASONING   2 / 5</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Spatial Reasoning Quick Practice Tests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Letts / Collins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Available for Cambridge Select Insight Select Insight tests in Year 5 and Year 6. Letts is one of few publishers with dedicated Spatial Reasoning titles.</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Quick practice format suits Spatial Reasoning well - short bursts avoid sessions becoming long and losing engagement.</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Use alongside CGP Spatial for variety. Different publishers present spatial questions differently, building flexibility.</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Alternate between CGP and Letts for variety. Time every session.</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have completed initial spatial technique learning and need varied timed practice.</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5-6.</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SPATIAL REASONING   3 / 5</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Brain Training: Logic Puzzles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Bond / Oxford University Press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Not exam-board specific. Covers logic and reasoning that underpins both VR and NVR across GL and Cambridge Select Insight Select Insight, in an engaging puzzle format.</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Targets the logical thinking and deduction skills needed for NVR and Spatial questions, built playfully.</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Use as a low-pressure supplement for evenings or weekends. Do not time these - the goal is enjoyment and reasoning development.</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Flexible use - evenings, weekends, or as a reward. Do not time.</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who need to build logic and reasoning skills in an engaging way, especially those who resist formal practice.</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4-6, as a supplement at any stage.</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a:extLst>
            <a:ext uri="{FF2B5EF4-FFF2-40B4-BE49-F238E27FC236}">
              <a16:creationId xmlns:a16="http://schemas.microsoft.com/office/drawing/2014/main" id="{8114F32A-013E-2EB3-73AC-5A36B1BFB87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84894DF-BB9E-F397-915E-787D2F8FEEBD}"/>
              </a:ext>
            </a:extLst>
          </p:cNvPr>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a:extLst>
              <a:ext uri="{FF2B5EF4-FFF2-40B4-BE49-F238E27FC236}">
                <a16:creationId xmlns:a16="http://schemas.microsoft.com/office/drawing/2014/main" id="{75F2F0C1-8494-99A2-95E3-67BB682CC678}"/>
              </a:ext>
            </a:extLst>
          </p:cNvPr>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graphicFrame>
        <p:nvGraphicFramePr>
          <p:cNvPr id="21" name="Table 20">
            <a:extLst>
              <a:ext uri="{FF2B5EF4-FFF2-40B4-BE49-F238E27FC236}">
                <a16:creationId xmlns:a16="http://schemas.microsoft.com/office/drawing/2014/main" id="{A3A24F70-60F5-429D-00C0-5130E5B91C81}"/>
              </a:ext>
            </a:extLst>
          </p:cNvPr>
          <p:cNvGraphicFramePr>
            <a:graphicFrameLocks noGrp="1"/>
          </p:cNvGraphicFramePr>
          <p:nvPr>
            <p:extLst>
              <p:ext uri="{D42A27DB-BD31-4B8C-83A1-F6EECF244321}">
                <p14:modId xmlns:p14="http://schemas.microsoft.com/office/powerpoint/2010/main" val="3261435554"/>
              </p:ext>
            </p:extLst>
          </p:nvPr>
        </p:nvGraphicFramePr>
        <p:xfrm>
          <a:off x="457200" y="1200182"/>
          <a:ext cx="10515600" cy="390144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191997859"/>
                    </a:ext>
                  </a:extLst>
                </a:gridCol>
                <a:gridCol w="3505200">
                  <a:extLst>
                    <a:ext uri="{9D8B030D-6E8A-4147-A177-3AD203B41FA5}">
                      <a16:colId xmlns:a16="http://schemas.microsoft.com/office/drawing/2014/main" val="3033582124"/>
                    </a:ext>
                  </a:extLst>
                </a:gridCol>
                <a:gridCol w="3505200">
                  <a:extLst>
                    <a:ext uri="{9D8B030D-6E8A-4147-A177-3AD203B41FA5}">
                      <a16:colId xmlns:a16="http://schemas.microsoft.com/office/drawing/2014/main" val="4001498936"/>
                    </a:ext>
                  </a:extLst>
                </a:gridCol>
              </a:tblGrid>
              <a:tr h="0">
                <a:tc>
                  <a:txBody>
                    <a:bodyPr/>
                    <a:lstStyle/>
                    <a:p>
                      <a:pPr>
                        <a:spcAft>
                          <a:spcPts val="2400"/>
                        </a:spcAft>
                        <a:buNone/>
                      </a:pPr>
                      <a:r>
                        <a:rPr lang="en-GB" b="1" dirty="0">
                          <a:effectLst/>
                        </a:rPr>
                        <a:t>Game / Resource</a:t>
                      </a:r>
                      <a:endParaRPr lang="en-GB" b="1" dirty="0">
                        <a:effectLst/>
                        <a:latin typeface="Google Sans Text"/>
                      </a:endParaRPr>
                    </a:p>
                  </a:txBody>
                  <a:tcPr marL="76200" marR="76200" marT="50800" marB="50800" anchor="ctr"/>
                </a:tc>
                <a:tc>
                  <a:txBody>
                    <a:bodyPr/>
                    <a:lstStyle/>
                    <a:p>
                      <a:pPr>
                        <a:spcAft>
                          <a:spcPts val="2400"/>
                        </a:spcAft>
                        <a:buNone/>
                      </a:pPr>
                      <a:r>
                        <a:rPr lang="en-GB" b="1" dirty="0">
                          <a:effectLst/>
                        </a:rPr>
                        <a:t>Core NVR / Spatial Skill Trained</a:t>
                      </a:r>
                      <a:endParaRPr lang="en-GB" b="1" dirty="0">
                        <a:effectLst/>
                        <a:latin typeface="Google Sans Text"/>
                      </a:endParaRPr>
                    </a:p>
                  </a:txBody>
                  <a:tcPr marL="76200" marR="76200" marT="50800" marB="50800" anchor="ctr"/>
                </a:tc>
                <a:tc>
                  <a:txBody>
                    <a:bodyPr/>
                    <a:lstStyle/>
                    <a:p>
                      <a:pPr>
                        <a:spcAft>
                          <a:spcPts val="2400"/>
                        </a:spcAft>
                        <a:buNone/>
                      </a:pPr>
                      <a:r>
                        <a:rPr lang="en-GB" b="1" dirty="0">
                          <a:effectLst/>
                        </a:rPr>
                        <a:t>Corresponding 11+ Exam Question Type</a:t>
                      </a:r>
                      <a:endParaRPr lang="en-GB" b="1" dirty="0">
                        <a:effectLst/>
                        <a:latin typeface="Google Sans Text"/>
                      </a:endParaRPr>
                    </a:p>
                  </a:txBody>
                  <a:tcPr marL="76200" marR="76200" marT="50800" marB="50800" anchor="ctr"/>
                </a:tc>
                <a:extLst>
                  <a:ext uri="{0D108BD9-81ED-4DB2-BD59-A6C34878D82A}">
                    <a16:rowId xmlns:a16="http://schemas.microsoft.com/office/drawing/2014/main" val="497162166"/>
                  </a:ext>
                </a:extLst>
              </a:tr>
              <a:tr h="0">
                <a:tc>
                  <a:txBody>
                    <a:bodyPr/>
                    <a:lstStyle/>
                    <a:p>
                      <a:pPr>
                        <a:spcAft>
                          <a:spcPts val="2400"/>
                        </a:spcAft>
                        <a:buNone/>
                      </a:pPr>
                      <a:r>
                        <a:rPr lang="en-GB">
                          <a:effectLst/>
                        </a:rPr>
                        <a:t>ThinkFun Rush Hour</a:t>
                      </a:r>
                      <a:endParaRPr lang="en-GB">
                        <a:effectLst/>
                        <a:latin typeface="Google Sans Text"/>
                      </a:endParaRPr>
                    </a:p>
                  </a:txBody>
                  <a:tcPr marL="76200" marR="76200" marT="50800" marB="50800" anchor="ctr"/>
                </a:tc>
                <a:tc>
                  <a:txBody>
                    <a:bodyPr/>
                    <a:lstStyle/>
                    <a:p>
                      <a:pPr>
                        <a:spcAft>
                          <a:spcPts val="2400"/>
                        </a:spcAft>
                        <a:buNone/>
                      </a:pPr>
                      <a:r>
                        <a:rPr lang="en-GB">
                          <a:effectLst/>
                        </a:rPr>
                        <a:t>Sequential planning &amp; spatial logic</a:t>
                      </a:r>
                      <a:endParaRPr lang="en-GB">
                        <a:effectLst/>
                        <a:latin typeface="Google Sans Text"/>
                      </a:endParaRPr>
                    </a:p>
                  </a:txBody>
                  <a:tcPr marL="76200" marR="76200" marT="50800" marB="50800" anchor="ctr"/>
                </a:tc>
                <a:tc>
                  <a:txBody>
                    <a:bodyPr/>
                    <a:lstStyle/>
                    <a:p>
                      <a:pPr>
                        <a:spcAft>
                          <a:spcPts val="2400"/>
                        </a:spcAft>
                        <a:buNone/>
                      </a:pPr>
                      <a:r>
                        <a:rPr lang="en-GB">
                          <a:effectLst/>
                        </a:rPr>
                        <a:t>Matrix completion, working-backward logic</a:t>
                      </a:r>
                      <a:endParaRPr lang="en-GB">
                        <a:effectLst/>
                        <a:latin typeface="Google Sans Text"/>
                      </a:endParaRPr>
                    </a:p>
                  </a:txBody>
                  <a:tcPr marL="76200" marR="76200" marT="50800" marB="50800" anchor="ctr"/>
                </a:tc>
                <a:extLst>
                  <a:ext uri="{0D108BD9-81ED-4DB2-BD59-A6C34878D82A}">
                    <a16:rowId xmlns:a16="http://schemas.microsoft.com/office/drawing/2014/main" val="1046914496"/>
                  </a:ext>
                </a:extLst>
              </a:tr>
              <a:tr h="0">
                <a:tc>
                  <a:txBody>
                    <a:bodyPr/>
                    <a:lstStyle/>
                    <a:p>
                      <a:pPr>
                        <a:spcAft>
                          <a:spcPts val="2400"/>
                        </a:spcAft>
                        <a:buNone/>
                      </a:pPr>
                      <a:r>
                        <a:rPr lang="en-GB">
                          <a:effectLst/>
                        </a:rPr>
                        <a:t>3D Block Puzzles / Mental Blox</a:t>
                      </a:r>
                      <a:endParaRPr lang="en-GB">
                        <a:effectLst/>
                        <a:latin typeface="Google Sans Text"/>
                      </a:endParaRPr>
                    </a:p>
                  </a:txBody>
                  <a:tcPr marL="76200" marR="76200" marT="50800" marB="50800" anchor="ctr"/>
                </a:tc>
                <a:tc>
                  <a:txBody>
                    <a:bodyPr/>
                    <a:lstStyle/>
                    <a:p>
                      <a:pPr>
                        <a:spcAft>
                          <a:spcPts val="2400"/>
                        </a:spcAft>
                        <a:buNone/>
                      </a:pPr>
                      <a:r>
                        <a:rPr lang="en-GB">
                          <a:effectLst/>
                        </a:rPr>
                        <a:t>Spatial visualization &amp; 3D rotation</a:t>
                      </a:r>
                      <a:endParaRPr lang="en-GB">
                        <a:effectLst/>
                        <a:latin typeface="Google Sans Text"/>
                      </a:endParaRPr>
                    </a:p>
                  </a:txBody>
                  <a:tcPr marL="76200" marR="76200" marT="50800" marB="50800" anchor="ctr"/>
                </a:tc>
                <a:tc>
                  <a:txBody>
                    <a:bodyPr/>
                    <a:lstStyle/>
                    <a:p>
                      <a:pPr>
                        <a:spcAft>
                          <a:spcPts val="2400"/>
                        </a:spcAft>
                        <a:buNone/>
                      </a:pPr>
                      <a:r>
                        <a:rPr lang="en-GB">
                          <a:effectLst/>
                        </a:rPr>
                        <a:t>Cube nets, block counting, 3D rotations</a:t>
                      </a:r>
                      <a:endParaRPr lang="en-GB">
                        <a:effectLst/>
                        <a:latin typeface="Google Sans Text"/>
                      </a:endParaRPr>
                    </a:p>
                  </a:txBody>
                  <a:tcPr marL="76200" marR="76200" marT="50800" marB="50800" anchor="ctr"/>
                </a:tc>
                <a:extLst>
                  <a:ext uri="{0D108BD9-81ED-4DB2-BD59-A6C34878D82A}">
                    <a16:rowId xmlns:a16="http://schemas.microsoft.com/office/drawing/2014/main" val="4046334643"/>
                  </a:ext>
                </a:extLst>
              </a:tr>
              <a:tr h="0">
                <a:tc>
                  <a:txBody>
                    <a:bodyPr/>
                    <a:lstStyle/>
                    <a:p>
                      <a:pPr>
                        <a:spcAft>
                          <a:spcPts val="2400"/>
                        </a:spcAft>
                        <a:buNone/>
                      </a:pPr>
                      <a:r>
                        <a:rPr lang="en-GB">
                          <a:effectLst/>
                        </a:rPr>
                        <a:t>SET (Visual Perception Game)</a:t>
                      </a:r>
                      <a:endParaRPr lang="en-GB">
                        <a:effectLst/>
                        <a:latin typeface="Google Sans Text"/>
                      </a:endParaRPr>
                    </a:p>
                  </a:txBody>
                  <a:tcPr marL="76200" marR="76200" marT="50800" marB="50800" anchor="ctr"/>
                </a:tc>
                <a:tc>
                  <a:txBody>
                    <a:bodyPr/>
                    <a:lstStyle/>
                    <a:p>
                      <a:pPr>
                        <a:spcAft>
                          <a:spcPts val="2400"/>
                        </a:spcAft>
                        <a:buNone/>
                      </a:pPr>
                      <a:r>
                        <a:rPr lang="en-GB">
                          <a:effectLst/>
                        </a:rPr>
                        <a:t>Multi-attribute pattern spotter</a:t>
                      </a:r>
                      <a:endParaRPr lang="en-GB">
                        <a:effectLst/>
                        <a:latin typeface="Google Sans Text"/>
                      </a:endParaRPr>
                    </a:p>
                  </a:txBody>
                  <a:tcPr marL="76200" marR="76200" marT="50800" marB="50800" anchor="ctr"/>
                </a:tc>
                <a:tc>
                  <a:txBody>
                    <a:bodyPr/>
                    <a:lstStyle/>
                    <a:p>
                      <a:pPr>
                        <a:spcAft>
                          <a:spcPts val="2400"/>
                        </a:spcAft>
                        <a:buNone/>
                      </a:pPr>
                      <a:r>
                        <a:rPr lang="en-GB">
                          <a:effectLst/>
                        </a:rPr>
                        <a:t>Symbol matching, odd-one-out, sequence grids</a:t>
                      </a:r>
                      <a:endParaRPr lang="en-GB">
                        <a:effectLst/>
                        <a:latin typeface="Google Sans Text"/>
                      </a:endParaRPr>
                    </a:p>
                  </a:txBody>
                  <a:tcPr marL="76200" marR="76200" marT="50800" marB="50800" anchor="ctr"/>
                </a:tc>
                <a:extLst>
                  <a:ext uri="{0D108BD9-81ED-4DB2-BD59-A6C34878D82A}">
                    <a16:rowId xmlns:a16="http://schemas.microsoft.com/office/drawing/2014/main" val="2529640842"/>
                  </a:ext>
                </a:extLst>
              </a:tr>
              <a:tr h="0">
                <a:tc>
                  <a:txBody>
                    <a:bodyPr/>
                    <a:lstStyle/>
                    <a:p>
                      <a:pPr>
                        <a:spcAft>
                          <a:spcPts val="2400"/>
                        </a:spcAft>
                        <a:buNone/>
                      </a:pPr>
                      <a:r>
                        <a:rPr lang="en-GB">
                          <a:effectLst/>
                        </a:rPr>
                        <a:t>Blokus / Kanoodle</a:t>
                      </a:r>
                      <a:endParaRPr lang="en-GB">
                        <a:effectLst/>
                        <a:latin typeface="Google Sans Text"/>
                      </a:endParaRPr>
                    </a:p>
                  </a:txBody>
                  <a:tcPr marL="76200" marR="76200" marT="50800" marB="50800" anchor="ctr"/>
                </a:tc>
                <a:tc>
                  <a:txBody>
                    <a:bodyPr/>
                    <a:lstStyle/>
                    <a:p>
                      <a:pPr>
                        <a:spcAft>
                          <a:spcPts val="2400"/>
                        </a:spcAft>
                        <a:buNone/>
                      </a:pPr>
                      <a:r>
                        <a:rPr lang="en-GB">
                          <a:effectLst/>
                        </a:rPr>
                        <a:t>Tessellation &amp; shape fit</a:t>
                      </a:r>
                      <a:endParaRPr lang="en-GB">
                        <a:effectLst/>
                        <a:latin typeface="Google Sans Text"/>
                      </a:endParaRPr>
                    </a:p>
                  </a:txBody>
                  <a:tcPr marL="76200" marR="76200" marT="50800" marB="50800" anchor="ctr"/>
                </a:tc>
                <a:tc>
                  <a:txBody>
                    <a:bodyPr/>
                    <a:lstStyle/>
                    <a:p>
                      <a:pPr>
                        <a:spcAft>
                          <a:spcPts val="2400"/>
                        </a:spcAft>
                        <a:buNone/>
                      </a:pPr>
                      <a:r>
                        <a:rPr lang="en-GB">
                          <a:effectLst/>
                        </a:rPr>
                        <a:t>Shape synthesis, overlapping figures</a:t>
                      </a:r>
                      <a:endParaRPr lang="en-GB">
                        <a:effectLst/>
                        <a:latin typeface="Google Sans Text"/>
                      </a:endParaRPr>
                    </a:p>
                  </a:txBody>
                  <a:tcPr marL="76200" marR="76200" marT="50800" marB="50800" anchor="ctr"/>
                </a:tc>
                <a:extLst>
                  <a:ext uri="{0D108BD9-81ED-4DB2-BD59-A6C34878D82A}">
                    <a16:rowId xmlns:a16="http://schemas.microsoft.com/office/drawing/2014/main" val="1115793150"/>
                  </a:ext>
                </a:extLst>
              </a:tr>
              <a:tr h="0">
                <a:tc>
                  <a:txBody>
                    <a:bodyPr/>
                    <a:lstStyle/>
                    <a:p>
                      <a:pPr>
                        <a:spcAft>
                          <a:spcPts val="2400"/>
                        </a:spcAft>
                        <a:buNone/>
                      </a:pPr>
                      <a:r>
                        <a:rPr lang="en-GB">
                          <a:effectLst/>
                        </a:rPr>
                        <a:t>Origami &amp; Paper Folding</a:t>
                      </a:r>
                      <a:endParaRPr lang="en-GB">
                        <a:effectLst/>
                        <a:latin typeface="Google Sans Text"/>
                      </a:endParaRPr>
                    </a:p>
                  </a:txBody>
                  <a:tcPr marL="76200" marR="76200" marT="50800" marB="50800" anchor="ctr"/>
                </a:tc>
                <a:tc>
                  <a:txBody>
                    <a:bodyPr/>
                    <a:lstStyle/>
                    <a:p>
                      <a:pPr>
                        <a:spcAft>
                          <a:spcPts val="2400"/>
                        </a:spcAft>
                        <a:buNone/>
                      </a:pPr>
                      <a:r>
                        <a:rPr lang="en-GB">
                          <a:effectLst/>
                        </a:rPr>
                        <a:t>Reflection &amp; spatial symmetry</a:t>
                      </a:r>
                      <a:endParaRPr lang="en-GB">
                        <a:effectLst/>
                        <a:latin typeface="Google Sans Text"/>
                      </a:endParaRPr>
                    </a:p>
                  </a:txBody>
                  <a:tcPr marL="76200" marR="76200" marT="50800" marB="50800" anchor="ctr"/>
                </a:tc>
                <a:tc>
                  <a:txBody>
                    <a:bodyPr/>
                    <a:lstStyle/>
                    <a:p>
                      <a:pPr>
                        <a:spcAft>
                          <a:spcPts val="2400"/>
                        </a:spcAft>
                        <a:buNone/>
                      </a:pPr>
                      <a:r>
                        <a:rPr lang="en-GB" dirty="0">
                          <a:effectLst/>
                        </a:rPr>
                        <a:t>Hole-punching &amp; paper folding questions</a:t>
                      </a:r>
                      <a:endParaRPr lang="en-GB" dirty="0">
                        <a:effectLst/>
                        <a:latin typeface="Google Sans Text"/>
                      </a:endParaRPr>
                    </a:p>
                  </a:txBody>
                  <a:tcPr marL="76200" marR="76200" marT="50800" marB="50800" anchor="ctr"/>
                </a:tc>
                <a:extLst>
                  <a:ext uri="{0D108BD9-81ED-4DB2-BD59-A6C34878D82A}">
                    <a16:rowId xmlns:a16="http://schemas.microsoft.com/office/drawing/2014/main" val="4254259552"/>
                  </a:ext>
                </a:extLst>
              </a:tr>
            </a:tbl>
          </a:graphicData>
        </a:graphic>
      </p:graphicFrame>
      <p:sp>
        <p:nvSpPr>
          <p:cNvPr id="23" name="TextBox 22">
            <a:extLst>
              <a:ext uri="{FF2B5EF4-FFF2-40B4-BE49-F238E27FC236}">
                <a16:creationId xmlns:a16="http://schemas.microsoft.com/office/drawing/2014/main" id="{87516547-242E-C508-4C59-81AAA798B0CA}"/>
              </a:ext>
            </a:extLst>
          </p:cNvPr>
          <p:cNvSpPr txBox="1"/>
          <p:nvPr/>
        </p:nvSpPr>
        <p:spPr>
          <a:xfrm>
            <a:off x="2785110" y="624578"/>
            <a:ext cx="6094476" cy="646331"/>
          </a:xfrm>
          <a:prstGeom prst="rect">
            <a:avLst/>
          </a:prstGeom>
          <a:noFill/>
        </p:spPr>
        <p:txBody>
          <a:bodyPr wrap="square">
            <a:spAutoFit/>
          </a:bodyPr>
          <a:lstStyle/>
          <a:p>
            <a:r>
              <a:rPr lang="en-US" b="1" dirty="0">
                <a:solidFill>
                  <a:srgbClr val="085041"/>
                </a:solidFill>
                <a:latin typeface="Cambria" pitchFamily="34" charset="0"/>
                <a:ea typeface="Cambria" pitchFamily="34" charset="-122"/>
                <a:cs typeface="Cambria" pitchFamily="34" charset="-120"/>
              </a:rPr>
              <a:t>Brain Training: Logic Puzzles</a:t>
            </a:r>
            <a:endParaRPr lang="en-US" dirty="0"/>
          </a:p>
          <a:p>
            <a:pPr>
              <a:buNone/>
            </a:pPr>
            <a:r>
              <a:rPr lang="en-GB" b="1" dirty="0"/>
              <a:t>Game Recommendation List for Your Parents</a:t>
            </a:r>
            <a:endParaRPr lang="en-GB" b="1" dirty="0">
              <a:effectLst/>
              <a:latin typeface="Google Sans"/>
            </a:endParaRPr>
          </a:p>
        </p:txBody>
      </p:sp>
      <p:sp>
        <p:nvSpPr>
          <p:cNvPr id="25" name="TextBox 24">
            <a:extLst>
              <a:ext uri="{FF2B5EF4-FFF2-40B4-BE49-F238E27FC236}">
                <a16:creationId xmlns:a16="http://schemas.microsoft.com/office/drawing/2014/main" id="{ECCF24D0-FA94-2C68-E74D-A103BEA9F1DA}"/>
              </a:ext>
            </a:extLst>
          </p:cNvPr>
          <p:cNvSpPr txBox="1"/>
          <p:nvPr/>
        </p:nvSpPr>
        <p:spPr>
          <a:xfrm>
            <a:off x="153162" y="5010388"/>
            <a:ext cx="6094476" cy="1754326"/>
          </a:xfrm>
          <a:prstGeom prst="rect">
            <a:avLst/>
          </a:prstGeom>
          <a:noFill/>
        </p:spPr>
        <p:txBody>
          <a:bodyPr wrap="square">
            <a:spAutoFit/>
          </a:bodyPr>
          <a:lstStyle/>
          <a:p>
            <a:pPr rtl="0">
              <a:buNone/>
            </a:pPr>
            <a:r>
              <a:rPr lang="en-GB" i="1" dirty="0">
                <a:effectLst/>
              </a:rPr>
              <a:t>"Don't rely solely on practice papers for Non-Verbal Reasoning. Games like </a:t>
            </a:r>
            <a:r>
              <a:rPr lang="en-GB" b="1" i="1" dirty="0">
                <a:effectLst/>
              </a:rPr>
              <a:t>Rush Hour</a:t>
            </a:r>
            <a:r>
              <a:rPr lang="en-GB" i="1" dirty="0">
                <a:effectLst/>
              </a:rPr>
              <a:t>, </a:t>
            </a:r>
            <a:r>
              <a:rPr lang="en-GB" b="1" i="1" dirty="0">
                <a:effectLst/>
              </a:rPr>
              <a:t>Set</a:t>
            </a:r>
            <a:r>
              <a:rPr lang="en-GB" i="1" dirty="0">
                <a:effectLst/>
              </a:rPr>
              <a:t>, and </a:t>
            </a:r>
            <a:r>
              <a:rPr lang="en-GB" b="1" i="1" dirty="0" err="1">
                <a:effectLst/>
              </a:rPr>
              <a:t>Blokus</a:t>
            </a:r>
            <a:r>
              <a:rPr lang="en-GB" i="1" dirty="0">
                <a:effectLst/>
              </a:rPr>
              <a:t> train the exact same cognitive muscles—mental rotation, pattern recognition, and spatial processing—without causing exam fatigue. Playing a 15-minute spatial game on a Friday evening is a high-yield, zero-stress way to build real skill."</a:t>
            </a:r>
            <a:endParaRPr lang="en-GB" dirty="0">
              <a:effectLst/>
            </a:endParaRPr>
          </a:p>
        </p:txBody>
      </p:sp>
      <p:sp>
        <p:nvSpPr>
          <p:cNvPr id="27" name="TextBox 26">
            <a:extLst>
              <a:ext uri="{FF2B5EF4-FFF2-40B4-BE49-F238E27FC236}">
                <a16:creationId xmlns:a16="http://schemas.microsoft.com/office/drawing/2014/main" id="{2BE49F04-5B11-9124-0E98-65C0EF0BDA77}"/>
              </a:ext>
            </a:extLst>
          </p:cNvPr>
          <p:cNvSpPr txBox="1"/>
          <p:nvPr/>
        </p:nvSpPr>
        <p:spPr>
          <a:xfrm>
            <a:off x="6428232" y="5175504"/>
            <a:ext cx="5859018" cy="2031325"/>
          </a:xfrm>
          <a:prstGeom prst="rect">
            <a:avLst/>
          </a:prstGeom>
          <a:noFill/>
        </p:spPr>
        <p:txBody>
          <a:bodyPr wrap="square">
            <a:spAutoFit/>
          </a:bodyPr>
          <a:lstStyle/>
          <a:p>
            <a:pPr rtl="0">
              <a:buNone/>
            </a:pPr>
            <a:r>
              <a:rPr lang="en-GB" i="1" dirty="0">
                <a:effectLst/>
              </a:rPr>
              <a:t>"When parents ask how to boost Non-Verbal Reasoning without doing another practice paper, tell them to put down the pencil and open a spatial game like </a:t>
            </a:r>
            <a:r>
              <a:rPr lang="en-GB" b="1" i="1" dirty="0">
                <a:effectLst/>
              </a:rPr>
              <a:t>Rush Hour</a:t>
            </a:r>
            <a:r>
              <a:rPr lang="en-GB" i="1" dirty="0">
                <a:effectLst/>
              </a:rPr>
              <a:t>, </a:t>
            </a:r>
            <a:r>
              <a:rPr lang="en-GB" b="1" i="1" dirty="0">
                <a:effectLst/>
              </a:rPr>
              <a:t>Set</a:t>
            </a:r>
            <a:r>
              <a:rPr lang="en-GB" i="1" dirty="0">
                <a:effectLst/>
              </a:rPr>
              <a:t>, or a </a:t>
            </a:r>
            <a:r>
              <a:rPr lang="en-GB" b="1" i="1" dirty="0">
                <a:effectLst/>
              </a:rPr>
              <a:t>3D Block Puzzle</a:t>
            </a:r>
            <a:r>
              <a:rPr lang="en-GB" i="1" dirty="0">
                <a:effectLst/>
              </a:rPr>
              <a:t>. Spending 15 minutes on a Friday evening building 3D shapes or solving visual puzzles trains mental rotation and spatial logic far more effectively than grinding through timed worksheets."</a:t>
            </a:r>
            <a:endParaRPr lang="en-GB" dirty="0">
              <a:effectLst/>
            </a:endParaRPr>
          </a:p>
        </p:txBody>
      </p:sp>
    </p:spTree>
    <p:extLst>
      <p:ext uri="{BB962C8B-B14F-4D97-AF65-F5344CB8AC3E}">
        <p14:creationId xmlns:p14="http://schemas.microsoft.com/office/powerpoint/2010/main" val="2289639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SPATIAL REASONING   5 / 5</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11+ Cambridge Select Insight Select Insight NVR 3D and Spatial 10-Minute Tests</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CGP Books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Cambridge Select Insight Select Insight-specific 3D and Spatial edition, for schools using Cambridge Select Insight (formerly Cambridge Select Insight Select Insight).</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Targets the 3D and Spatial component of the Cambridge Select Insight Select Insight test specifically, in the short-section style of the Cambridge Select Insight Select Insight exam.</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Use if your child is sitting Cambridge Select Insight Select Insight rather than GL - the question style differs enough that using the correct edition matters.</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10-minute daily sessions. Focus on 3D rotation and cube nets first.</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sitting Cambridge Select Insight Select Insight or Cambridge Select Insight exams.</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 5-6.</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SPATIAL REASONING   4 / 5</a:t>
            </a:r>
            <a:endParaRPr lang="en-US" sz="1000" dirty="0"/>
          </a:p>
        </p:txBody>
      </p:sp>
      <p:sp>
        <p:nvSpPr>
          <p:cNvPr id="5" name="Text 3"/>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NVR Handbook</a:t>
            </a:r>
            <a:endParaRPr lang="en-US" sz="2400" dirty="0"/>
          </a:p>
        </p:txBody>
      </p:sp>
      <p:sp>
        <p:nvSpPr>
          <p:cNvPr id="6" name="Text 4"/>
          <p:cNvSpPr/>
          <p:nvPr/>
        </p:nvSpPr>
        <p:spPr>
          <a:xfrm>
            <a:off x="548640" y="1508760"/>
            <a:ext cx="1106424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Bond / Oxford University Press</a:t>
            </a:r>
            <a:endParaRPr lang="en-US" sz="1200" dirty="0"/>
          </a:p>
        </p:txBody>
      </p:sp>
      <p:sp>
        <p:nvSpPr>
          <p:cNvPr id="7" name="Shape 5"/>
          <p:cNvSpPr/>
          <p:nvPr/>
        </p:nvSpPr>
        <p:spPr>
          <a:xfrm>
            <a:off x="548640" y="1965960"/>
            <a:ext cx="11091672" cy="2834640"/>
          </a:xfrm>
          <a:prstGeom prst="roundRect">
            <a:avLst>
              <a:gd name="adj" fmla="val 2581"/>
            </a:avLst>
          </a:prstGeom>
          <a:solidFill>
            <a:srgbClr val="FFFFFF"/>
          </a:solidFill>
          <a:ln w="12700">
            <a:solidFill>
              <a:srgbClr val="E5E2D8"/>
            </a:solidFill>
            <a:prstDash val="solid"/>
          </a:ln>
        </p:spPr>
        <p:txBody>
          <a:bodyPr/>
          <a:lstStyle/>
          <a:p>
            <a:endParaRPr lang="en-GB"/>
          </a:p>
        </p:txBody>
      </p:sp>
      <p:sp>
        <p:nvSpPr>
          <p:cNvPr id="8" name="Shape 6"/>
          <p:cNvSpPr/>
          <p:nvPr/>
        </p:nvSpPr>
        <p:spPr>
          <a:xfrm>
            <a:off x="822960" y="2148840"/>
            <a:ext cx="329184" cy="329184"/>
          </a:xfrm>
          <a:prstGeom prst="ellipse">
            <a:avLst/>
          </a:prstGeom>
          <a:solidFill>
            <a:srgbClr val="085041"/>
          </a:solidFill>
          <a:ln/>
        </p:spPr>
        <p:txBody>
          <a:bodyPr/>
          <a:lstStyle/>
          <a:p>
            <a:endParaRPr lang="en-GB"/>
          </a:p>
        </p:txBody>
      </p:sp>
      <p:sp>
        <p:nvSpPr>
          <p:cNvPr id="9" name="Text 7"/>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p:cNvSpPr/>
          <p:nvPr/>
        </p:nvSpPr>
        <p:spPr>
          <a:xfrm>
            <a:off x="1280160" y="2093976"/>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085041"/>
                </a:solidFill>
                <a:latin typeface="Calibri" pitchFamily="34" charset="0"/>
                <a:ea typeface="Calibri" pitchFamily="34" charset="-122"/>
                <a:cs typeface="Calibri" pitchFamily="34" charset="-120"/>
              </a:rPr>
              <a:t>Fit:  </a:t>
            </a:r>
            <a:r>
              <a:rPr lang="en-US" sz="1150" dirty="0">
                <a:solidFill>
                  <a:srgbClr val="222222"/>
                </a:solidFill>
                <a:latin typeface="Calibri" pitchFamily="34" charset="0"/>
                <a:ea typeface="Calibri" pitchFamily="34" charset="-122"/>
                <a:cs typeface="Calibri" pitchFamily="34" charset="-120"/>
              </a:rPr>
              <a:t>Covers all main NVR question types for GL and Cambridge Select Insight Select Insight including 2D/3D shapes, spatial awareness, coded shapes and logic - the most comprehensive Bond handbook.</a:t>
            </a:r>
            <a:endParaRPr lang="en-US" sz="1150" dirty="0"/>
          </a:p>
        </p:txBody>
      </p:sp>
      <p:sp>
        <p:nvSpPr>
          <p:cNvPr id="11" name="Shape 9"/>
          <p:cNvSpPr/>
          <p:nvPr/>
        </p:nvSpPr>
        <p:spPr>
          <a:xfrm>
            <a:off x="822960" y="3035808"/>
            <a:ext cx="329184" cy="329184"/>
          </a:xfrm>
          <a:prstGeom prst="ellipse">
            <a:avLst/>
          </a:prstGeom>
          <a:solidFill>
            <a:srgbClr val="FF7451"/>
          </a:solidFill>
          <a:ln/>
        </p:spPr>
        <p:txBody>
          <a:bodyPr/>
          <a:lstStyle/>
          <a:p>
            <a:endParaRPr lang="en-GB"/>
          </a:p>
        </p:txBody>
      </p:sp>
      <p:sp>
        <p:nvSpPr>
          <p:cNvPr id="12" name="Text 10"/>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p:cNvSpPr/>
          <p:nvPr/>
        </p:nvSpPr>
        <p:spPr>
          <a:xfrm>
            <a:off x="1280160" y="2980944"/>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FF7451"/>
                </a:solidFill>
                <a:latin typeface="Calibri" pitchFamily="34" charset="0"/>
                <a:ea typeface="Calibri" pitchFamily="34" charset="-122"/>
                <a:cs typeface="Calibri" pitchFamily="34" charset="-120"/>
              </a:rPr>
              <a:t>Impact:  </a:t>
            </a:r>
            <a:r>
              <a:rPr lang="en-US" sz="1150" dirty="0">
                <a:solidFill>
                  <a:srgbClr val="222222"/>
                </a:solidFill>
                <a:latin typeface="Calibri" pitchFamily="34" charset="0"/>
                <a:ea typeface="Calibri" pitchFamily="34" charset="-122"/>
                <a:cs typeface="Calibri" pitchFamily="34" charset="-120"/>
              </a:rPr>
              <a:t>Builds the foundation for all NVR and Spatial types. The spatial chapters cover exactly what GL Spatial Reasoning tests.</a:t>
            </a:r>
            <a:endParaRPr lang="en-US" sz="1150" dirty="0"/>
          </a:p>
        </p:txBody>
      </p:sp>
      <p:sp>
        <p:nvSpPr>
          <p:cNvPr id="14" name="Shape 12"/>
          <p:cNvSpPr/>
          <p:nvPr/>
        </p:nvSpPr>
        <p:spPr>
          <a:xfrm>
            <a:off x="822960" y="3922776"/>
            <a:ext cx="329184" cy="329184"/>
          </a:xfrm>
          <a:prstGeom prst="ellipse">
            <a:avLst/>
          </a:prstGeom>
          <a:solidFill>
            <a:srgbClr val="B8863C"/>
          </a:solidFill>
          <a:ln/>
        </p:spPr>
        <p:txBody>
          <a:bodyPr/>
          <a:lstStyle/>
          <a:p>
            <a:endParaRPr lang="en-GB"/>
          </a:p>
        </p:txBody>
      </p:sp>
      <p:sp>
        <p:nvSpPr>
          <p:cNvPr id="15" name="Text 13"/>
          <p:cNvSpPr/>
          <p:nvPr/>
        </p:nvSpPr>
        <p:spPr>
          <a:xfrm>
            <a:off x="822960" y="3913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6" name="Text 14"/>
          <p:cNvSpPr/>
          <p:nvPr/>
        </p:nvSpPr>
        <p:spPr>
          <a:xfrm>
            <a:off x="1280160" y="3867912"/>
            <a:ext cx="10149840" cy="822960"/>
          </a:xfrm>
          <a:prstGeom prst="rect">
            <a:avLst/>
          </a:prstGeom>
          <a:noFill/>
          <a:ln/>
        </p:spPr>
        <p:txBody>
          <a:bodyPr wrap="square" lIns="0" tIns="0" rIns="0" bIns="0" rtlCol="0" anchor="ctr"/>
          <a:lstStyle/>
          <a:p>
            <a:pPr marL="0" indent="0">
              <a:lnSpc>
                <a:spcPct val="120000"/>
              </a:lnSpc>
              <a:buNone/>
            </a:pPr>
            <a:r>
              <a:rPr lang="en-US" sz="1150" b="1" dirty="0">
                <a:solidFill>
                  <a:srgbClr val="B8863C"/>
                </a:solidFill>
                <a:latin typeface="Calibri" pitchFamily="34" charset="0"/>
                <a:ea typeface="Calibri" pitchFamily="34" charset="-122"/>
                <a:cs typeface="Calibri" pitchFamily="34" charset="-120"/>
              </a:rPr>
              <a:t>Time:  </a:t>
            </a:r>
            <a:r>
              <a:rPr lang="en-US" sz="1150" dirty="0">
                <a:solidFill>
                  <a:srgbClr val="222222"/>
                </a:solidFill>
                <a:latin typeface="Calibri" pitchFamily="34" charset="0"/>
                <a:ea typeface="Calibri" pitchFamily="34" charset="-122"/>
                <a:cs typeface="Calibri" pitchFamily="34" charset="-120"/>
              </a:rPr>
              <a:t>Use as a teaching companion alongside practice papers, chapter by chapter.</a:t>
            </a:r>
            <a:endParaRPr lang="en-US" sz="1150" dirty="0"/>
          </a:p>
        </p:txBody>
      </p:sp>
      <p:sp>
        <p:nvSpPr>
          <p:cNvPr id="17" name="Shape 15"/>
          <p:cNvSpPr/>
          <p:nvPr/>
        </p:nvSpPr>
        <p:spPr>
          <a:xfrm>
            <a:off x="548640" y="4937760"/>
            <a:ext cx="11091672" cy="731520"/>
          </a:xfrm>
          <a:prstGeom prst="roundRect">
            <a:avLst>
              <a:gd name="adj" fmla="val 10000"/>
            </a:avLst>
          </a:prstGeom>
          <a:solidFill>
            <a:srgbClr val="F5F5F0"/>
          </a:solidFill>
          <a:ln/>
        </p:spPr>
        <p:txBody>
          <a:bodyPr/>
          <a:lstStyle/>
          <a:p>
            <a:endParaRPr lang="en-GB"/>
          </a:p>
        </p:txBody>
      </p:sp>
      <p:sp>
        <p:nvSpPr>
          <p:cNvPr id="18" name="Text 16"/>
          <p:cNvSpPr/>
          <p:nvPr/>
        </p:nvSpPr>
        <p:spPr>
          <a:xfrm>
            <a:off x="777240" y="5010912"/>
            <a:ext cx="10607040" cy="594360"/>
          </a:xfrm>
          <a:prstGeom prst="rect">
            <a:avLst/>
          </a:prstGeom>
          <a:noFill/>
          <a:ln/>
        </p:spPr>
        <p:txBody>
          <a:bodyPr wrap="square" lIns="0" tIns="0" rIns="0" bIns="0" rtlCol="0" anchor="ctr"/>
          <a:lstStyle/>
          <a:p>
            <a:pPr marL="0" indent="0">
              <a:lnSpc>
                <a:spcPct val="115000"/>
              </a:lnSpc>
              <a:buNone/>
            </a:pPr>
            <a:r>
              <a:rPr lang="en-US" sz="1050" b="1" dirty="0">
                <a:solidFill>
                  <a:srgbClr val="085041"/>
                </a:solidFill>
                <a:latin typeface="Calibri" pitchFamily="34" charset="0"/>
                <a:ea typeface="Calibri" pitchFamily="34" charset="-122"/>
                <a:cs typeface="Calibri" pitchFamily="34" charset="-120"/>
              </a:rPr>
              <a:t>How to use it:  </a:t>
            </a:r>
            <a:r>
              <a:rPr lang="en-US" sz="1050" dirty="0">
                <a:solidFill>
                  <a:srgbClr val="222222"/>
                </a:solidFill>
                <a:latin typeface="Calibri" pitchFamily="34" charset="0"/>
                <a:ea typeface="Calibri" pitchFamily="34" charset="-122"/>
                <a:cs typeface="Calibri" pitchFamily="34" charset="-120"/>
              </a:rPr>
              <a:t>Chapter by chapter with a parent or tutor. Pair with CGP Spatial 10-minute tests once each chapter is complete.</a:t>
            </a:r>
            <a:endParaRPr lang="en-US" sz="1050" dirty="0"/>
          </a:p>
        </p:txBody>
      </p:sp>
      <p:sp>
        <p:nvSpPr>
          <p:cNvPr id="19" name="Text 17"/>
          <p:cNvSpPr/>
          <p:nvPr/>
        </p:nvSpPr>
        <p:spPr>
          <a:xfrm>
            <a:off x="548640" y="5806440"/>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Best for: </a:t>
            </a:r>
            <a:r>
              <a:rPr lang="en-US" sz="1050" dirty="0">
                <a:solidFill>
                  <a:srgbClr val="222222"/>
                </a:solidFill>
                <a:latin typeface="Calibri" pitchFamily="34" charset="0"/>
                <a:ea typeface="Calibri" pitchFamily="34" charset="-122"/>
                <a:cs typeface="Calibri" pitchFamily="34" charset="-120"/>
              </a:rPr>
              <a:t>Children starting NVR/Spatial preparation, and parents/tutors who need to understand the question types first.</a:t>
            </a:r>
            <a:endParaRPr lang="en-US" sz="1050" dirty="0"/>
          </a:p>
        </p:txBody>
      </p:sp>
      <p:sp>
        <p:nvSpPr>
          <p:cNvPr id="20" name="Text 18"/>
          <p:cNvSpPr/>
          <p:nvPr/>
        </p:nvSpPr>
        <p:spPr>
          <a:xfrm>
            <a:off x="548640" y="6108192"/>
            <a:ext cx="11091672" cy="365760"/>
          </a:xfrm>
          <a:prstGeom prst="rect">
            <a:avLst/>
          </a:prstGeom>
          <a:noFill/>
          <a:ln/>
        </p:spPr>
        <p:txBody>
          <a:bodyPr wrap="square" lIns="0" tIns="0" rIns="0" bIns="0" rtlCol="0" anchor="ctr"/>
          <a:lstStyle/>
          <a:p>
            <a:pPr marL="0" indent="0">
              <a:buNone/>
            </a:pPr>
            <a:r>
              <a:rPr lang="en-US" sz="1050" b="1" dirty="0">
                <a:solidFill>
                  <a:srgbClr val="085041"/>
                </a:solidFill>
                <a:latin typeface="Calibri" pitchFamily="34" charset="0"/>
                <a:ea typeface="Calibri" pitchFamily="34" charset="-122"/>
                <a:cs typeface="Calibri" pitchFamily="34" charset="-120"/>
              </a:rPr>
              <a:t>Stage: </a:t>
            </a:r>
            <a:r>
              <a:rPr lang="en-US" sz="1050" dirty="0">
                <a:solidFill>
                  <a:srgbClr val="666666"/>
                </a:solidFill>
                <a:latin typeface="Calibri" pitchFamily="34" charset="0"/>
                <a:ea typeface="Calibri" pitchFamily="34" charset="-122"/>
                <a:cs typeface="Calibri" pitchFamily="34" charset="-120"/>
              </a:rPr>
              <a:t>Years 4-5, before timed practice papers.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a:extLst>
            <a:ext uri="{FF2B5EF4-FFF2-40B4-BE49-F238E27FC236}">
              <a16:creationId xmlns:a16="http://schemas.microsoft.com/office/drawing/2014/main" id="{2EBAA601-3424-E244-126B-B01E98BC45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21BE5EF-A980-B130-41B6-B8E0A16A2DA2}"/>
              </a:ext>
            </a:extLst>
          </p:cNvPr>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a:extLst>
              <a:ext uri="{FF2B5EF4-FFF2-40B4-BE49-F238E27FC236}">
                <a16:creationId xmlns:a16="http://schemas.microsoft.com/office/drawing/2014/main" id="{3476B585-2B7A-FE30-B70B-4FF0DC387F10}"/>
              </a:ext>
            </a:extLst>
          </p:cNvPr>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a:extLst>
              <a:ext uri="{FF2B5EF4-FFF2-40B4-BE49-F238E27FC236}">
                <a16:creationId xmlns:a16="http://schemas.microsoft.com/office/drawing/2014/main" id="{72F33EE1-2C49-BD9F-5443-2EDF923D4DC9}"/>
              </a:ext>
            </a:extLst>
          </p:cNvPr>
          <p:cNvSpPr/>
          <p:nvPr/>
        </p:nvSpPr>
        <p:spPr>
          <a:xfrm>
            <a:off x="8686800" y="320040"/>
            <a:ext cx="2926080" cy="274320"/>
          </a:xfrm>
          <a:prstGeom prst="rect">
            <a:avLst/>
          </a:prstGeom>
          <a:noFill/>
          <a:ln/>
        </p:spPr>
        <p:txBody>
          <a:bodyPr wrap="square" lIns="0" tIns="0" rIns="0" bIns="0" rtlCol="0" anchor="ctr"/>
          <a:lstStyle/>
          <a:p>
            <a:pPr marL="0" indent="0" algn="r">
              <a:buNone/>
            </a:pPr>
            <a:r>
              <a:rPr lang="en-US" sz="1000" b="1" kern="0" spc="100" dirty="0">
                <a:solidFill>
                  <a:srgbClr val="FF7451"/>
                </a:solidFill>
                <a:latin typeface="Calibri" pitchFamily="34" charset="0"/>
                <a:ea typeface="Calibri" pitchFamily="34" charset="-122"/>
                <a:cs typeface="Calibri" pitchFamily="34" charset="-120"/>
              </a:rPr>
              <a:t>SPATIAL REASONING   4 / 5</a:t>
            </a:r>
            <a:endParaRPr lang="en-US" sz="1000" dirty="0"/>
          </a:p>
        </p:txBody>
      </p:sp>
      <p:sp>
        <p:nvSpPr>
          <p:cNvPr id="5" name="Text 3">
            <a:extLst>
              <a:ext uri="{FF2B5EF4-FFF2-40B4-BE49-F238E27FC236}">
                <a16:creationId xmlns:a16="http://schemas.microsoft.com/office/drawing/2014/main" id="{A4F7BC18-60BE-B440-1D1D-FD554EE7A3C9}"/>
              </a:ext>
            </a:extLst>
          </p:cNvPr>
          <p:cNvSpPr/>
          <p:nvPr/>
        </p:nvSpPr>
        <p:spPr>
          <a:xfrm>
            <a:off x="548640" y="795528"/>
            <a:ext cx="11064240" cy="548640"/>
          </a:xfrm>
          <a:prstGeom prst="rect">
            <a:avLst/>
          </a:prstGeom>
          <a:noFill/>
          <a:ln/>
        </p:spPr>
        <p:txBody>
          <a:bodyPr wrap="square" lIns="0" tIns="0" rIns="0" bIns="0" rtlCol="0" anchor="ctr"/>
          <a:lstStyle/>
          <a:p>
            <a:r>
              <a:rPr lang="en-US" sz="2400" b="1" dirty="0">
                <a:solidFill>
                  <a:srgbClr val="085041"/>
                </a:solidFill>
                <a:latin typeface="Cambria" pitchFamily="34" charset="0"/>
                <a:ea typeface="Cambria" pitchFamily="34" charset="-122"/>
                <a:cs typeface="Cambria" pitchFamily="34" charset="-120"/>
              </a:rPr>
              <a:t>Word Problems Resources &amp; Books</a:t>
            </a:r>
            <a:endParaRPr lang="en-US" sz="2400" dirty="0"/>
          </a:p>
        </p:txBody>
      </p:sp>
      <p:sp>
        <p:nvSpPr>
          <p:cNvPr id="6" name="Text 4">
            <a:extLst>
              <a:ext uri="{FF2B5EF4-FFF2-40B4-BE49-F238E27FC236}">
                <a16:creationId xmlns:a16="http://schemas.microsoft.com/office/drawing/2014/main" id="{AF562196-939A-B7A0-398B-8F9F6462C2B9}"/>
              </a:ext>
            </a:extLst>
          </p:cNvPr>
          <p:cNvSpPr/>
          <p:nvPr/>
        </p:nvSpPr>
        <p:spPr>
          <a:xfrm>
            <a:off x="548640" y="1280160"/>
            <a:ext cx="11064240" cy="320040"/>
          </a:xfrm>
          <a:prstGeom prst="rect">
            <a:avLst/>
          </a:prstGeom>
          <a:noFill/>
          <a:ln/>
        </p:spPr>
        <p:txBody>
          <a:bodyPr wrap="square" lIns="0" tIns="0" rIns="0" bIns="0" rtlCol="0" anchor="ctr"/>
          <a:lstStyle/>
          <a:p>
            <a:r>
              <a:rPr lang="en-GB" sz="1200" b="1" dirty="0"/>
              <a:t>Parent Reference Guides (To Learn </a:t>
            </a:r>
            <a:r>
              <a:rPr lang="en-GB" sz="1200" b="1" i="1" dirty="0"/>
              <a:t>How</a:t>
            </a:r>
            <a:r>
              <a:rPr lang="en-GB" sz="1200" b="1" dirty="0"/>
              <a:t> to Teach)</a:t>
            </a:r>
          </a:p>
        </p:txBody>
      </p:sp>
      <p:sp>
        <p:nvSpPr>
          <p:cNvPr id="7" name="Shape 5">
            <a:extLst>
              <a:ext uri="{FF2B5EF4-FFF2-40B4-BE49-F238E27FC236}">
                <a16:creationId xmlns:a16="http://schemas.microsoft.com/office/drawing/2014/main" id="{C0955DF6-CBBE-AB23-22CE-764A080D87E8}"/>
              </a:ext>
            </a:extLst>
          </p:cNvPr>
          <p:cNvSpPr/>
          <p:nvPr/>
        </p:nvSpPr>
        <p:spPr>
          <a:xfrm>
            <a:off x="548640" y="1572768"/>
            <a:ext cx="11091672" cy="2478024"/>
          </a:xfrm>
          <a:prstGeom prst="roundRect">
            <a:avLst>
              <a:gd name="adj" fmla="val 2581"/>
            </a:avLst>
          </a:prstGeom>
          <a:solidFill>
            <a:srgbClr val="FFFFFF"/>
          </a:solidFill>
          <a:ln w="12700">
            <a:solidFill>
              <a:srgbClr val="E5E2D8"/>
            </a:solidFill>
            <a:prstDash val="solid"/>
          </a:ln>
        </p:spPr>
        <p:txBody>
          <a:bodyPr/>
          <a:lstStyle/>
          <a:p>
            <a:endParaRPr lang="en-GB" dirty="0"/>
          </a:p>
        </p:txBody>
      </p:sp>
      <p:sp>
        <p:nvSpPr>
          <p:cNvPr id="9" name="Text 7">
            <a:extLst>
              <a:ext uri="{FF2B5EF4-FFF2-40B4-BE49-F238E27FC236}">
                <a16:creationId xmlns:a16="http://schemas.microsoft.com/office/drawing/2014/main" id="{0F8759CD-837E-E83C-2210-9B86B570129B}"/>
              </a:ext>
            </a:extLst>
          </p:cNvPr>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F.</a:t>
            </a:r>
            <a:endParaRPr lang="en-US" sz="1300" dirty="0"/>
          </a:p>
        </p:txBody>
      </p:sp>
      <p:sp>
        <p:nvSpPr>
          <p:cNvPr id="10" name="Text 8">
            <a:extLst>
              <a:ext uri="{FF2B5EF4-FFF2-40B4-BE49-F238E27FC236}">
                <a16:creationId xmlns:a16="http://schemas.microsoft.com/office/drawing/2014/main" id="{59947B8E-34EF-3B2B-99D0-CCBB54FA39B4}"/>
              </a:ext>
            </a:extLst>
          </p:cNvPr>
          <p:cNvSpPr/>
          <p:nvPr/>
        </p:nvSpPr>
        <p:spPr>
          <a:xfrm>
            <a:off x="1280160" y="1581912"/>
            <a:ext cx="10149840" cy="822960"/>
          </a:xfrm>
          <a:prstGeom prst="rect">
            <a:avLst/>
          </a:prstGeom>
          <a:noFill/>
          <a:ln/>
        </p:spPr>
        <p:txBody>
          <a:bodyPr wrap="square" lIns="0" tIns="0" rIns="0" bIns="0" rtlCol="0" anchor="ctr"/>
          <a:lstStyle/>
          <a:p>
            <a:pPr lvl="0"/>
            <a:r>
              <a:rPr lang="en-GB" sz="1200" b="1" dirty="0"/>
              <a:t>11+ Maths Revision Guide (Galore Park / Louise Martine):</a:t>
            </a:r>
            <a:r>
              <a:rPr lang="en-GB" sz="1200" dirty="0"/>
              <a:t> Offers clear explanations and working methods, giving parents the exact language needed to guide practice without introducing conflicting techniques.</a:t>
            </a:r>
          </a:p>
        </p:txBody>
      </p:sp>
      <p:sp>
        <p:nvSpPr>
          <p:cNvPr id="12" name="Text 10">
            <a:extLst>
              <a:ext uri="{FF2B5EF4-FFF2-40B4-BE49-F238E27FC236}">
                <a16:creationId xmlns:a16="http://schemas.microsoft.com/office/drawing/2014/main" id="{82EADF15-9B7A-E1A9-EE1B-ED1D1159A824}"/>
              </a:ext>
            </a:extLst>
          </p:cNvPr>
          <p:cNvSpPr/>
          <p:nvPr/>
        </p:nvSpPr>
        <p:spPr>
          <a:xfrm>
            <a:off x="822960" y="3026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13" name="Text 11">
            <a:extLst>
              <a:ext uri="{FF2B5EF4-FFF2-40B4-BE49-F238E27FC236}">
                <a16:creationId xmlns:a16="http://schemas.microsoft.com/office/drawing/2014/main" id="{7179655B-6B5B-9E96-1D66-C9570AD75856}"/>
              </a:ext>
            </a:extLst>
          </p:cNvPr>
          <p:cNvSpPr/>
          <p:nvPr/>
        </p:nvSpPr>
        <p:spPr>
          <a:xfrm>
            <a:off x="1280160" y="2468880"/>
            <a:ext cx="10149840" cy="822960"/>
          </a:xfrm>
          <a:prstGeom prst="rect">
            <a:avLst/>
          </a:prstGeom>
          <a:noFill/>
          <a:ln/>
        </p:spPr>
        <p:txBody>
          <a:bodyPr wrap="square" lIns="0" tIns="0" rIns="0" bIns="0" rtlCol="0" anchor="ctr"/>
          <a:lstStyle/>
          <a:p>
            <a:pPr lvl="0"/>
            <a:r>
              <a:rPr lang="en-GB" sz="1200" b="1" dirty="0"/>
              <a:t>New 11+ GL Maths Study Book with Parents' Guide (CGP):</a:t>
            </a:r>
            <a:r>
              <a:rPr lang="en-GB" sz="1200" dirty="0"/>
              <a:t> Includes a pull-out guide for parents explaining how to coach bar </a:t>
            </a:r>
            <a:r>
              <a:rPr lang="en-GB" sz="1200" dirty="0" err="1"/>
              <a:t>modeling</a:t>
            </a:r>
            <a:r>
              <a:rPr lang="en-GB" sz="1200" dirty="0"/>
              <a:t>, unit conversions, and algebraic thinking.</a:t>
            </a:r>
          </a:p>
        </p:txBody>
      </p:sp>
      <p:sp>
        <p:nvSpPr>
          <p:cNvPr id="16" name="Text 14">
            <a:extLst>
              <a:ext uri="{FF2B5EF4-FFF2-40B4-BE49-F238E27FC236}">
                <a16:creationId xmlns:a16="http://schemas.microsoft.com/office/drawing/2014/main" id="{1DC9B2AC-7E93-FD8E-0D25-06BC95BCF996}"/>
              </a:ext>
            </a:extLst>
          </p:cNvPr>
          <p:cNvSpPr/>
          <p:nvPr/>
        </p:nvSpPr>
        <p:spPr>
          <a:xfrm>
            <a:off x="1280160" y="3355848"/>
            <a:ext cx="10149840" cy="822960"/>
          </a:xfrm>
          <a:prstGeom prst="rect">
            <a:avLst/>
          </a:prstGeom>
          <a:noFill/>
          <a:ln/>
        </p:spPr>
        <p:txBody>
          <a:bodyPr wrap="square" lIns="0" tIns="0" rIns="0" bIns="0" rtlCol="0" anchor="ctr"/>
          <a:lstStyle/>
          <a:p>
            <a:pPr lvl="0"/>
            <a:r>
              <a:rPr lang="en-GB" sz="1200" b="1" dirty="0"/>
              <a:t>11+ Maths Arithmetic and Word Problems Workbook (Collins / </a:t>
            </a:r>
            <a:r>
              <a:rPr lang="en-GB" sz="1200" b="1" dirty="0" err="1"/>
              <a:t>Teachitright</a:t>
            </a:r>
            <a:r>
              <a:rPr lang="en-GB" sz="1200" b="1" dirty="0"/>
              <a:t>):</a:t>
            </a:r>
            <a:r>
              <a:rPr lang="en-GB" sz="1200" dirty="0"/>
              <a:t> Built specifically for lesson-by-lesson guided learning, complete with parent hint boxes.</a:t>
            </a:r>
          </a:p>
        </p:txBody>
      </p:sp>
      <p:sp>
        <p:nvSpPr>
          <p:cNvPr id="24" name="Shape 5">
            <a:extLst>
              <a:ext uri="{FF2B5EF4-FFF2-40B4-BE49-F238E27FC236}">
                <a16:creationId xmlns:a16="http://schemas.microsoft.com/office/drawing/2014/main" id="{BCFF1B42-BD88-7A11-5922-FE73D62309C2}"/>
              </a:ext>
            </a:extLst>
          </p:cNvPr>
          <p:cNvSpPr/>
          <p:nvPr/>
        </p:nvSpPr>
        <p:spPr>
          <a:xfrm>
            <a:off x="548640" y="4361688"/>
            <a:ext cx="11091672" cy="2478024"/>
          </a:xfrm>
          <a:prstGeom prst="roundRect">
            <a:avLst>
              <a:gd name="adj" fmla="val 2581"/>
            </a:avLst>
          </a:prstGeom>
          <a:solidFill>
            <a:srgbClr val="FFFFFF"/>
          </a:solidFill>
          <a:ln w="12700">
            <a:solidFill>
              <a:srgbClr val="E5E2D8"/>
            </a:solidFill>
            <a:prstDash val="solid"/>
          </a:ln>
        </p:spPr>
        <p:txBody>
          <a:bodyPr/>
          <a:lstStyle/>
          <a:p>
            <a:endParaRPr lang="en-GB" dirty="0"/>
          </a:p>
        </p:txBody>
      </p:sp>
      <p:sp>
        <p:nvSpPr>
          <p:cNvPr id="26" name="Text 4">
            <a:extLst>
              <a:ext uri="{FF2B5EF4-FFF2-40B4-BE49-F238E27FC236}">
                <a16:creationId xmlns:a16="http://schemas.microsoft.com/office/drawing/2014/main" id="{7CA24205-35F9-A2C4-6D53-59F76BF65E88}"/>
              </a:ext>
            </a:extLst>
          </p:cNvPr>
          <p:cNvSpPr/>
          <p:nvPr/>
        </p:nvSpPr>
        <p:spPr>
          <a:xfrm>
            <a:off x="701040" y="4041648"/>
            <a:ext cx="11064240" cy="320040"/>
          </a:xfrm>
          <a:prstGeom prst="rect">
            <a:avLst/>
          </a:prstGeom>
          <a:noFill/>
          <a:ln/>
        </p:spPr>
        <p:txBody>
          <a:bodyPr wrap="square" lIns="0" tIns="0" rIns="0" bIns="0" rtlCol="0" anchor="ctr"/>
          <a:lstStyle/>
          <a:p>
            <a:r>
              <a:rPr lang="en-GB" sz="1200" b="1" dirty="0"/>
              <a:t>Practice Workbooks (For Guided Joint Sessions)</a:t>
            </a:r>
          </a:p>
        </p:txBody>
      </p:sp>
      <p:sp>
        <p:nvSpPr>
          <p:cNvPr id="28" name="Text 8">
            <a:extLst>
              <a:ext uri="{FF2B5EF4-FFF2-40B4-BE49-F238E27FC236}">
                <a16:creationId xmlns:a16="http://schemas.microsoft.com/office/drawing/2014/main" id="{625AE998-8770-767A-9434-8C701F84C5BE}"/>
              </a:ext>
            </a:extLst>
          </p:cNvPr>
          <p:cNvSpPr/>
          <p:nvPr/>
        </p:nvSpPr>
        <p:spPr>
          <a:xfrm>
            <a:off x="1322832" y="4395216"/>
            <a:ext cx="10149840" cy="822960"/>
          </a:xfrm>
          <a:prstGeom prst="rect">
            <a:avLst/>
          </a:prstGeom>
          <a:noFill/>
          <a:ln/>
        </p:spPr>
        <p:txBody>
          <a:bodyPr wrap="square" lIns="0" tIns="0" rIns="0" bIns="0" rtlCol="0" anchor="ctr"/>
          <a:lstStyle/>
          <a:p>
            <a:pPr lvl="0"/>
            <a:r>
              <a:rPr lang="en-GB" sz="1200" b="1" dirty="0"/>
              <a:t>11+ Maths Arithmetic and Word Problems Workbook (Collins / </a:t>
            </a:r>
            <a:r>
              <a:rPr lang="en-GB" sz="1200" b="1" dirty="0" err="1"/>
              <a:t>Teachitright</a:t>
            </a:r>
            <a:r>
              <a:rPr lang="en-GB" sz="1200" b="1" dirty="0"/>
              <a:t>):</a:t>
            </a:r>
            <a:r>
              <a:rPr lang="en-GB" sz="1200" dirty="0"/>
              <a:t> Built specifically for lesson-by-lesson guided learning, complete with parent hint boxes.</a:t>
            </a:r>
          </a:p>
        </p:txBody>
      </p:sp>
      <p:sp>
        <p:nvSpPr>
          <p:cNvPr id="30" name="Text 11">
            <a:extLst>
              <a:ext uri="{FF2B5EF4-FFF2-40B4-BE49-F238E27FC236}">
                <a16:creationId xmlns:a16="http://schemas.microsoft.com/office/drawing/2014/main" id="{5CABB5EE-DE05-F11F-3065-1F8E130B170B}"/>
              </a:ext>
            </a:extLst>
          </p:cNvPr>
          <p:cNvSpPr/>
          <p:nvPr/>
        </p:nvSpPr>
        <p:spPr>
          <a:xfrm>
            <a:off x="1322832" y="5282184"/>
            <a:ext cx="10149840" cy="822960"/>
          </a:xfrm>
          <a:prstGeom prst="rect">
            <a:avLst/>
          </a:prstGeom>
          <a:noFill/>
          <a:ln/>
        </p:spPr>
        <p:txBody>
          <a:bodyPr wrap="square" lIns="0" tIns="0" rIns="0" bIns="0" rtlCol="0" anchor="ctr"/>
          <a:lstStyle/>
          <a:p>
            <a:pPr lvl="0"/>
            <a:r>
              <a:rPr lang="en-GB" sz="1200" b="1" dirty="0"/>
              <a:t>11+ Essentials Mathematics: Worded Problems (First Past the Post / Eleven Plus Exams):</a:t>
            </a:r>
            <a:r>
              <a:rPr lang="en-GB" sz="1200" dirty="0"/>
              <a:t> Features comprehensive worked solution walkthroughs for every problem, serving as a ready-made coaching script.</a:t>
            </a:r>
          </a:p>
        </p:txBody>
      </p:sp>
      <p:sp>
        <p:nvSpPr>
          <p:cNvPr id="32" name="Text 14">
            <a:extLst>
              <a:ext uri="{FF2B5EF4-FFF2-40B4-BE49-F238E27FC236}">
                <a16:creationId xmlns:a16="http://schemas.microsoft.com/office/drawing/2014/main" id="{862611B2-D62C-1058-5378-EBA640C7B25D}"/>
              </a:ext>
            </a:extLst>
          </p:cNvPr>
          <p:cNvSpPr/>
          <p:nvPr/>
        </p:nvSpPr>
        <p:spPr>
          <a:xfrm>
            <a:off x="1322832" y="6169152"/>
            <a:ext cx="10149840" cy="822960"/>
          </a:xfrm>
          <a:prstGeom prst="rect">
            <a:avLst/>
          </a:prstGeom>
          <a:noFill/>
          <a:ln/>
        </p:spPr>
        <p:txBody>
          <a:bodyPr wrap="square" lIns="0" tIns="0" rIns="0" bIns="0" rtlCol="0" anchor="ctr"/>
          <a:lstStyle/>
          <a:p>
            <a:pPr lvl="0"/>
            <a:r>
              <a:rPr lang="en-GB" sz="1200" b="1" dirty="0"/>
              <a:t>11+ Maths Workbooks - Problem Solving Series (AE Publications):</a:t>
            </a:r>
            <a:r>
              <a:rPr lang="en-GB" sz="1200" dirty="0"/>
              <a:t> Teaches structured visual techniques, including diagramming and the unitary method.</a:t>
            </a:r>
            <a:endParaRPr lang="en-GB" sz="1200" dirty="0">
              <a:effectLst/>
            </a:endParaRPr>
          </a:p>
        </p:txBody>
      </p:sp>
    </p:spTree>
    <p:extLst>
      <p:ext uri="{BB962C8B-B14F-4D97-AF65-F5344CB8AC3E}">
        <p14:creationId xmlns:p14="http://schemas.microsoft.com/office/powerpoint/2010/main" val="967933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914400"/>
            <a:ext cx="11064240" cy="50292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Buying &amp; Using Resources Wisely (1/3)</a:t>
            </a:r>
            <a:endParaRPr lang="en-US" sz="2400" dirty="0"/>
          </a:p>
        </p:txBody>
      </p:sp>
      <p:sp>
        <p:nvSpPr>
          <p:cNvPr id="5" name="Shape 3"/>
          <p:cNvSpPr/>
          <p:nvPr/>
        </p:nvSpPr>
        <p:spPr>
          <a:xfrm>
            <a:off x="548640" y="1508760"/>
            <a:ext cx="11091672" cy="2263140"/>
          </a:xfrm>
          <a:prstGeom prst="roundRect">
            <a:avLst>
              <a:gd name="adj" fmla="val 3232"/>
            </a:avLst>
          </a:prstGeom>
          <a:solidFill>
            <a:srgbClr val="FFFFFF"/>
          </a:solidFill>
          <a:ln w="12700">
            <a:solidFill>
              <a:srgbClr val="E5E2D8"/>
            </a:solidFill>
            <a:prstDash val="solid"/>
          </a:ln>
        </p:spPr>
        <p:txBody>
          <a:bodyPr/>
          <a:lstStyle/>
          <a:p>
            <a:endParaRPr lang="en-GB"/>
          </a:p>
        </p:txBody>
      </p:sp>
      <p:sp>
        <p:nvSpPr>
          <p:cNvPr id="6" name="Shape 4"/>
          <p:cNvSpPr/>
          <p:nvPr/>
        </p:nvSpPr>
        <p:spPr>
          <a:xfrm>
            <a:off x="777240" y="1673352"/>
            <a:ext cx="365760" cy="365760"/>
          </a:xfrm>
          <a:prstGeom prst="ellipse">
            <a:avLst/>
          </a:prstGeom>
          <a:solidFill>
            <a:srgbClr val="085041"/>
          </a:solidFill>
          <a:ln/>
        </p:spPr>
        <p:txBody>
          <a:bodyPr/>
          <a:lstStyle/>
          <a:p>
            <a:endParaRPr lang="en-GB"/>
          </a:p>
        </p:txBody>
      </p:sp>
      <p:sp>
        <p:nvSpPr>
          <p:cNvPr id="7" name="Text 5"/>
          <p:cNvSpPr/>
          <p:nvPr/>
        </p:nvSpPr>
        <p:spPr>
          <a:xfrm>
            <a:off x="1371600" y="1645920"/>
            <a:ext cx="9144000" cy="365760"/>
          </a:xfrm>
          <a:prstGeom prst="rect">
            <a:avLst/>
          </a:prstGeom>
          <a:noFill/>
          <a:ln/>
        </p:spPr>
        <p:txBody>
          <a:bodyPr wrap="square" lIns="0" tIns="0" rIns="0" bIns="0" rtlCol="0" anchor="ctr"/>
          <a:lstStyle/>
          <a:p>
            <a:pPr marL="0" indent="0">
              <a:buNone/>
            </a:pPr>
            <a:r>
              <a:rPr lang="en-US" sz="1500" b="1" dirty="0">
                <a:solidFill>
                  <a:srgbClr val="085041"/>
                </a:solidFill>
                <a:latin typeface="Cambria" pitchFamily="34" charset="0"/>
                <a:ea typeface="Cambria" pitchFamily="34" charset="-122"/>
                <a:cs typeface="Cambria" pitchFamily="34" charset="-120"/>
              </a:rPr>
              <a:t>Resource Levels &amp; Progression</a:t>
            </a:r>
            <a:endParaRPr lang="en-US" sz="1500" dirty="0"/>
          </a:p>
        </p:txBody>
      </p:sp>
      <p:sp>
        <p:nvSpPr>
          <p:cNvPr id="8" name="Text 6"/>
          <p:cNvSpPr/>
          <p:nvPr/>
        </p:nvSpPr>
        <p:spPr>
          <a:xfrm>
            <a:off x="822960" y="2039112"/>
            <a:ext cx="10515600" cy="1668780"/>
          </a:xfrm>
          <a:prstGeom prst="rect">
            <a:avLst/>
          </a:prstGeom>
          <a:noFill/>
          <a:ln/>
        </p:spPr>
        <p:txBody>
          <a:bodyPr wrap="square" lIns="0" tIns="0" rIns="0" bIns="0" rtlCol="0" anchor="ctr"/>
          <a:lstStyle/>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Books are usually banded by age: 5-6, then progressing up to 10-11 and 11-12 years. Some series also offer Stage 1/2, or a stretch tier.</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Always choose a level that matches your child's current strength, using diagnostic results - not a jump ahead.</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The right ceiling depends on your target school's pass rate: high-90s pass marks benefit from 11-12+ level books; lower pass marks, 10-11+ is often enough.</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Before moving up a level, make sure your child is scoring 85%+ consistently at the level below first.</a:t>
            </a:r>
            <a:endParaRPr lang="en-US" sz="1050" dirty="0"/>
          </a:p>
        </p:txBody>
      </p:sp>
      <p:sp>
        <p:nvSpPr>
          <p:cNvPr id="9" name="Shape 7"/>
          <p:cNvSpPr/>
          <p:nvPr/>
        </p:nvSpPr>
        <p:spPr>
          <a:xfrm>
            <a:off x="548640" y="3909060"/>
            <a:ext cx="11091672" cy="2263140"/>
          </a:xfrm>
          <a:prstGeom prst="roundRect">
            <a:avLst>
              <a:gd name="adj" fmla="val 3232"/>
            </a:avLst>
          </a:prstGeom>
          <a:solidFill>
            <a:srgbClr val="FFFFFF"/>
          </a:solidFill>
          <a:ln w="12700">
            <a:solidFill>
              <a:srgbClr val="E5E2D8"/>
            </a:solidFill>
            <a:prstDash val="solid"/>
          </a:ln>
        </p:spPr>
        <p:txBody>
          <a:bodyPr/>
          <a:lstStyle/>
          <a:p>
            <a:endParaRPr lang="en-GB"/>
          </a:p>
        </p:txBody>
      </p:sp>
      <p:sp>
        <p:nvSpPr>
          <p:cNvPr id="10" name="Shape 8"/>
          <p:cNvSpPr/>
          <p:nvPr/>
        </p:nvSpPr>
        <p:spPr>
          <a:xfrm>
            <a:off x="777240" y="4073652"/>
            <a:ext cx="365760" cy="365760"/>
          </a:xfrm>
          <a:prstGeom prst="ellipse">
            <a:avLst/>
          </a:prstGeom>
          <a:solidFill>
            <a:srgbClr val="FF7451"/>
          </a:solidFill>
          <a:ln/>
        </p:spPr>
        <p:txBody>
          <a:bodyPr/>
          <a:lstStyle/>
          <a:p>
            <a:endParaRPr lang="en-GB"/>
          </a:p>
        </p:txBody>
      </p:sp>
      <p:sp>
        <p:nvSpPr>
          <p:cNvPr id="11" name="Text 9"/>
          <p:cNvSpPr/>
          <p:nvPr/>
        </p:nvSpPr>
        <p:spPr>
          <a:xfrm>
            <a:off x="1371600" y="4046220"/>
            <a:ext cx="9144000" cy="365760"/>
          </a:xfrm>
          <a:prstGeom prst="rect">
            <a:avLst/>
          </a:prstGeom>
          <a:noFill/>
          <a:ln/>
        </p:spPr>
        <p:txBody>
          <a:bodyPr wrap="square" lIns="0" tIns="0" rIns="0" bIns="0" rtlCol="0" anchor="ctr"/>
          <a:lstStyle/>
          <a:p>
            <a:pPr marL="0" indent="0">
              <a:buNone/>
            </a:pPr>
            <a:r>
              <a:rPr lang="en-US" sz="1500" b="1" dirty="0">
                <a:solidFill>
                  <a:srgbClr val="FF7451"/>
                </a:solidFill>
                <a:latin typeface="Cambria" pitchFamily="34" charset="0"/>
                <a:ea typeface="Cambria" pitchFamily="34" charset="-122"/>
                <a:cs typeface="Cambria" pitchFamily="34" charset="-120"/>
              </a:rPr>
              <a:t>Exam-Format Progression Timeline</a:t>
            </a:r>
            <a:endParaRPr lang="en-US" sz="1500" dirty="0"/>
          </a:p>
        </p:txBody>
      </p:sp>
      <p:sp>
        <p:nvSpPr>
          <p:cNvPr id="12" name="Text 10"/>
          <p:cNvSpPr/>
          <p:nvPr/>
        </p:nvSpPr>
        <p:spPr>
          <a:xfrm>
            <a:off x="822960" y="4439412"/>
            <a:ext cx="10515600" cy="1668780"/>
          </a:xfrm>
          <a:prstGeom prst="rect">
            <a:avLst/>
          </a:prstGeom>
          <a:noFill/>
          <a:ln/>
        </p:spPr>
        <p:txBody>
          <a:bodyPr wrap="square" lIns="0" tIns="0" rIns="0" bIns="0" rtlCol="0" anchor="ctr"/>
          <a:lstStyle/>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Start on general/standard-format papers (GL format) while building core knowledge and technique.</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Once comfortable, introduce your target school's specific exam format (Cambridge Select Insight Select Insight/GL/ISEB).</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By the start of Year 5 at the latest, a child should be working with exam-specific papers only.</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If a child is especially strong at Maths, it's worth skipping GL-format books and going straight to Cambridge Select Insight Select Insight where that applies.</a:t>
            </a:r>
            <a:endParaRPr lang="en-US" sz="1050" dirty="0"/>
          </a:p>
        </p:txBody>
      </p:sp>
      <p:sp>
        <p:nvSpPr>
          <p:cNvPr id="13" name="Text 11"/>
          <p:cNvSpPr/>
          <p:nvPr/>
        </p:nvSpPr>
        <p:spPr>
          <a:xfrm>
            <a:off x="457200" y="6537960"/>
            <a:ext cx="82296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Jedon 11+ | F.I.T. Resource Guide</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914400"/>
            <a:ext cx="11064240" cy="50292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Buying &amp; Using Resources Wisely (2/3)</a:t>
            </a:r>
            <a:endParaRPr lang="en-US" sz="2400" dirty="0"/>
          </a:p>
        </p:txBody>
      </p:sp>
      <p:sp>
        <p:nvSpPr>
          <p:cNvPr id="5" name="Shape 3"/>
          <p:cNvSpPr/>
          <p:nvPr/>
        </p:nvSpPr>
        <p:spPr>
          <a:xfrm>
            <a:off x="548640" y="1508760"/>
            <a:ext cx="11091672" cy="2263140"/>
          </a:xfrm>
          <a:prstGeom prst="roundRect">
            <a:avLst>
              <a:gd name="adj" fmla="val 3232"/>
            </a:avLst>
          </a:prstGeom>
          <a:solidFill>
            <a:srgbClr val="FFFFFF"/>
          </a:solidFill>
          <a:ln w="12700">
            <a:solidFill>
              <a:srgbClr val="E5E2D8"/>
            </a:solidFill>
            <a:prstDash val="solid"/>
          </a:ln>
        </p:spPr>
        <p:txBody>
          <a:bodyPr/>
          <a:lstStyle/>
          <a:p>
            <a:endParaRPr lang="en-GB"/>
          </a:p>
        </p:txBody>
      </p:sp>
      <p:sp>
        <p:nvSpPr>
          <p:cNvPr id="6" name="Shape 4"/>
          <p:cNvSpPr/>
          <p:nvPr/>
        </p:nvSpPr>
        <p:spPr>
          <a:xfrm>
            <a:off x="777240" y="1673352"/>
            <a:ext cx="365760" cy="365760"/>
          </a:xfrm>
          <a:prstGeom prst="ellipse">
            <a:avLst/>
          </a:prstGeom>
          <a:solidFill>
            <a:srgbClr val="B8863C"/>
          </a:solidFill>
          <a:ln/>
        </p:spPr>
        <p:txBody>
          <a:bodyPr/>
          <a:lstStyle/>
          <a:p>
            <a:endParaRPr lang="en-GB"/>
          </a:p>
        </p:txBody>
      </p:sp>
      <p:sp>
        <p:nvSpPr>
          <p:cNvPr id="7" name="Text 5"/>
          <p:cNvSpPr/>
          <p:nvPr/>
        </p:nvSpPr>
        <p:spPr>
          <a:xfrm>
            <a:off x="1371600" y="1645920"/>
            <a:ext cx="9144000" cy="365760"/>
          </a:xfrm>
          <a:prstGeom prst="rect">
            <a:avLst/>
          </a:prstGeom>
          <a:noFill/>
          <a:ln/>
        </p:spPr>
        <p:txBody>
          <a:bodyPr wrap="square" lIns="0" tIns="0" rIns="0" bIns="0" rtlCol="0" anchor="ctr"/>
          <a:lstStyle/>
          <a:p>
            <a:pPr marL="0" indent="0">
              <a:buNone/>
            </a:pPr>
            <a:r>
              <a:rPr lang="en-US" sz="1500" b="1" dirty="0">
                <a:solidFill>
                  <a:srgbClr val="B8863C"/>
                </a:solidFill>
                <a:latin typeface="Cambria" pitchFamily="34" charset="0"/>
                <a:ea typeface="Cambria" pitchFamily="34" charset="-122"/>
                <a:cs typeface="Cambria" pitchFamily="34" charset="-120"/>
              </a:rPr>
              <a:t>Before You Buy</a:t>
            </a:r>
            <a:endParaRPr lang="en-US" sz="1500" dirty="0"/>
          </a:p>
        </p:txBody>
      </p:sp>
      <p:sp>
        <p:nvSpPr>
          <p:cNvPr id="8" name="Text 6"/>
          <p:cNvSpPr/>
          <p:nvPr/>
        </p:nvSpPr>
        <p:spPr>
          <a:xfrm>
            <a:off x="822960" y="2039112"/>
            <a:ext cx="10515600" cy="1668780"/>
          </a:xfrm>
          <a:prstGeom prst="rect">
            <a:avLst/>
          </a:prstGeom>
          <a:noFill/>
          <a:ln/>
        </p:spPr>
        <p:txBody>
          <a:bodyPr wrap="square" lIns="0" tIns="0" rIns="0" bIns="0" rtlCol="0" anchor="ctr"/>
          <a:lstStyle/>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Buy according to demand, not in bulk - bulk-buy only once you're confident in a resource and your child's pace.</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Buy for the level your child needs right now, before purchasing further ahead.</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Focus on one resource series for a while before combining and widening with others.</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Check: clear progression easy-to-challenging? Test papers as well as workbooks? Range easy to buy and affordable?</a:t>
            </a:r>
            <a:endParaRPr lang="en-US" sz="1050" dirty="0"/>
          </a:p>
        </p:txBody>
      </p:sp>
      <p:sp>
        <p:nvSpPr>
          <p:cNvPr id="9" name="Shape 7"/>
          <p:cNvSpPr/>
          <p:nvPr/>
        </p:nvSpPr>
        <p:spPr>
          <a:xfrm>
            <a:off x="548640" y="3909060"/>
            <a:ext cx="11091672" cy="2263140"/>
          </a:xfrm>
          <a:prstGeom prst="roundRect">
            <a:avLst>
              <a:gd name="adj" fmla="val 3232"/>
            </a:avLst>
          </a:prstGeom>
          <a:solidFill>
            <a:srgbClr val="FFFFFF"/>
          </a:solidFill>
          <a:ln w="12700">
            <a:solidFill>
              <a:srgbClr val="E5E2D8"/>
            </a:solidFill>
            <a:prstDash val="solid"/>
          </a:ln>
        </p:spPr>
        <p:txBody>
          <a:bodyPr/>
          <a:lstStyle/>
          <a:p>
            <a:endParaRPr lang="en-GB"/>
          </a:p>
        </p:txBody>
      </p:sp>
      <p:sp>
        <p:nvSpPr>
          <p:cNvPr id="10" name="Shape 8"/>
          <p:cNvSpPr/>
          <p:nvPr/>
        </p:nvSpPr>
        <p:spPr>
          <a:xfrm>
            <a:off x="777240" y="4073652"/>
            <a:ext cx="365760" cy="365760"/>
          </a:xfrm>
          <a:prstGeom prst="ellipse">
            <a:avLst/>
          </a:prstGeom>
          <a:solidFill>
            <a:srgbClr val="085041"/>
          </a:solidFill>
          <a:ln/>
        </p:spPr>
        <p:txBody>
          <a:bodyPr/>
          <a:lstStyle/>
          <a:p>
            <a:endParaRPr lang="en-GB"/>
          </a:p>
        </p:txBody>
      </p:sp>
      <p:sp>
        <p:nvSpPr>
          <p:cNvPr id="11" name="Text 9"/>
          <p:cNvSpPr/>
          <p:nvPr/>
        </p:nvSpPr>
        <p:spPr>
          <a:xfrm>
            <a:off x="1371600" y="4046220"/>
            <a:ext cx="9144000" cy="365760"/>
          </a:xfrm>
          <a:prstGeom prst="rect">
            <a:avLst/>
          </a:prstGeom>
          <a:noFill/>
          <a:ln/>
        </p:spPr>
        <p:txBody>
          <a:bodyPr wrap="square" lIns="0" tIns="0" rIns="0" bIns="0" rtlCol="0" anchor="ctr"/>
          <a:lstStyle/>
          <a:p>
            <a:pPr marL="0" indent="0">
              <a:buNone/>
            </a:pPr>
            <a:r>
              <a:rPr lang="en-US" sz="1500" b="1" dirty="0">
                <a:solidFill>
                  <a:srgbClr val="085041"/>
                </a:solidFill>
                <a:latin typeface="Cambria" pitchFamily="34" charset="0"/>
                <a:ea typeface="Cambria" pitchFamily="34" charset="-122"/>
                <a:cs typeface="Cambria" pitchFamily="34" charset="-120"/>
              </a:rPr>
              <a:t>Mixing &amp; Matching Resources</a:t>
            </a:r>
            <a:endParaRPr lang="en-US" sz="1500" dirty="0"/>
          </a:p>
        </p:txBody>
      </p:sp>
      <p:sp>
        <p:nvSpPr>
          <p:cNvPr id="12" name="Text 10"/>
          <p:cNvSpPr/>
          <p:nvPr/>
        </p:nvSpPr>
        <p:spPr>
          <a:xfrm>
            <a:off x="822960" y="4439412"/>
            <a:ext cx="10515600" cy="1668780"/>
          </a:xfrm>
          <a:prstGeom prst="rect">
            <a:avLst/>
          </a:prstGeom>
          <a:noFill/>
          <a:ln/>
        </p:spPr>
        <p:txBody>
          <a:bodyPr wrap="square" lIns="0" tIns="0" rIns="0" bIns="0" rtlCol="0" anchor="ctr"/>
          <a:lstStyle/>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Using more than one resource - once your child is ready - strengthens skills, boosts confidence, and varies question styles.</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Choose resources based on learning style, diagnostic results, age/ability, and topic needed.</a:t>
            </a:r>
            <a:endParaRPr lang="en-US" sz="1050" dirty="0"/>
          </a:p>
          <a:p>
            <a:pPr marL="342900" indent="-342900">
              <a:lnSpc>
                <a:spcPct val="110000"/>
              </a:lnSpc>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Practical patterns: one series per age band, alternate across the week, or alternate by month.</a:t>
            </a:r>
            <a:endParaRPr lang="en-US" sz="1050" dirty="0"/>
          </a:p>
        </p:txBody>
      </p:sp>
      <p:sp>
        <p:nvSpPr>
          <p:cNvPr id="13" name="Text 11"/>
          <p:cNvSpPr/>
          <p:nvPr/>
        </p:nvSpPr>
        <p:spPr>
          <a:xfrm>
            <a:off x="457200" y="6537960"/>
            <a:ext cx="82296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Jedon 11+ | F.I.T. Resource Guide</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914400"/>
            <a:ext cx="11064240" cy="50292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Tracking Resource Usage</a:t>
            </a:r>
            <a:endParaRPr lang="en-US" sz="2400" dirty="0"/>
          </a:p>
        </p:txBody>
      </p:sp>
      <p:sp>
        <p:nvSpPr>
          <p:cNvPr id="5" name="Text 3"/>
          <p:cNvSpPr/>
          <p:nvPr/>
        </p:nvSpPr>
        <p:spPr>
          <a:xfrm>
            <a:off x="548640" y="1691640"/>
            <a:ext cx="11064240" cy="822960"/>
          </a:xfrm>
          <a:prstGeom prst="rect">
            <a:avLst/>
          </a:prstGeom>
          <a:noFill/>
          <a:ln/>
        </p:spPr>
        <p:txBody>
          <a:bodyPr wrap="square" lIns="0" tIns="0" rIns="0" bIns="0" rtlCol="0" anchor="ctr"/>
          <a:lstStyle/>
          <a:p>
            <a:pPr marL="0" indent="0">
              <a:lnSpc>
                <a:spcPct val="130000"/>
              </a:lnSpc>
              <a:buNone/>
            </a:pPr>
            <a:r>
              <a:rPr lang="en-US" sz="1400" dirty="0">
                <a:solidFill>
                  <a:srgbClr val="222222"/>
                </a:solidFill>
                <a:latin typeface="Calibri" pitchFamily="34" charset="0"/>
                <a:ea typeface="Calibri" pitchFamily="34" charset="-122"/>
                <a:cs typeface="Calibri" pitchFamily="34" charset="-120"/>
              </a:rPr>
              <a:t>Note the start date for each resource your child begins - it helps you assess how long they spend on each one and plan and budget for future purchases more accurately.</a:t>
            </a:r>
            <a:endParaRPr lang="en-US" sz="1400" dirty="0"/>
          </a:p>
        </p:txBody>
      </p:sp>
      <p:sp>
        <p:nvSpPr>
          <p:cNvPr id="6" name="Shape 4"/>
          <p:cNvSpPr/>
          <p:nvPr/>
        </p:nvSpPr>
        <p:spPr>
          <a:xfrm>
            <a:off x="2651760" y="2834640"/>
            <a:ext cx="6858000" cy="2743200"/>
          </a:xfrm>
          <a:prstGeom prst="roundRect">
            <a:avLst>
              <a:gd name="adj" fmla="val 4000"/>
            </a:avLst>
          </a:prstGeom>
          <a:solidFill>
            <a:srgbClr val="FF7451"/>
          </a:solidFill>
          <a:ln/>
        </p:spPr>
        <p:txBody>
          <a:bodyPr/>
          <a:lstStyle/>
          <a:p>
            <a:endParaRPr lang="en-GB"/>
          </a:p>
        </p:txBody>
      </p:sp>
      <p:sp>
        <p:nvSpPr>
          <p:cNvPr id="7" name="Text 5"/>
          <p:cNvSpPr/>
          <p:nvPr/>
        </p:nvSpPr>
        <p:spPr>
          <a:xfrm>
            <a:off x="2651760" y="3108960"/>
            <a:ext cx="6858000" cy="1188720"/>
          </a:xfrm>
          <a:prstGeom prst="rect">
            <a:avLst/>
          </a:prstGeom>
          <a:noFill/>
          <a:ln/>
        </p:spPr>
        <p:txBody>
          <a:bodyPr wrap="square" lIns="0" tIns="0" rIns="0" bIns="0"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3-6 months</a:t>
            </a:r>
            <a:endParaRPr lang="en-US" sz="5600" dirty="0"/>
          </a:p>
        </p:txBody>
      </p:sp>
      <p:sp>
        <p:nvSpPr>
          <p:cNvPr id="8" name="Text 6"/>
          <p:cNvSpPr/>
          <p:nvPr/>
        </p:nvSpPr>
        <p:spPr>
          <a:xfrm>
            <a:off x="3291840" y="4343400"/>
            <a:ext cx="5577840" cy="1005840"/>
          </a:xfrm>
          <a:prstGeom prst="rect">
            <a:avLst/>
          </a:prstGeom>
          <a:noFill/>
          <a:ln/>
        </p:spPr>
        <p:txBody>
          <a:bodyPr wrap="square" lIns="0" tIns="0" rIns="0" bIns="0" rtlCol="0" anchor="ctr"/>
          <a:lstStyle/>
          <a:p>
            <a:pPr marL="0" indent="0" algn="ctr">
              <a:lnSpc>
                <a:spcPct val="125000"/>
              </a:lnSpc>
              <a:buNone/>
            </a:pPr>
            <a:r>
              <a:rPr lang="en-US" sz="1300" dirty="0">
                <a:solidFill>
                  <a:srgbClr val="FFFFFF"/>
                </a:solidFill>
                <a:latin typeface="Calibri" pitchFamily="34" charset="0"/>
                <a:ea typeface="Calibri" pitchFamily="34" charset="-122"/>
                <a:cs typeface="Calibri" pitchFamily="34" charset="-120"/>
              </a:rPr>
              <a:t>is roughly how long one book may last, depending on your child's skills and pace - use this as a planning benchmark, not a fixed rule.</a:t>
            </a:r>
            <a:endParaRPr lang="en-US" sz="1300" dirty="0"/>
          </a:p>
        </p:txBody>
      </p:sp>
      <p:sp>
        <p:nvSpPr>
          <p:cNvPr id="9" name="Text 7"/>
          <p:cNvSpPr/>
          <p:nvPr/>
        </p:nvSpPr>
        <p:spPr>
          <a:xfrm>
            <a:off x="457200" y="6537960"/>
            <a:ext cx="82296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Jedon 11+ | F.I.T. Resource Guide</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1005840"/>
            <a:ext cx="11064240" cy="548640"/>
          </a:xfrm>
          <a:prstGeom prst="rect">
            <a:avLst/>
          </a:prstGeom>
          <a:noFill/>
          <a:ln/>
        </p:spPr>
        <p:txBody>
          <a:bodyPr wrap="square" lIns="0" tIns="0" rIns="0" bIns="0" rtlCol="0" anchor="ctr"/>
          <a:lstStyle/>
          <a:p>
            <a:pPr marL="0" indent="0">
              <a:buNone/>
            </a:pPr>
            <a:r>
              <a:rPr lang="en-US" sz="2600" b="1" dirty="0">
                <a:solidFill>
                  <a:srgbClr val="085041"/>
                </a:solidFill>
                <a:latin typeface="Cambria" pitchFamily="34" charset="0"/>
                <a:ea typeface="Cambria" pitchFamily="34" charset="-122"/>
                <a:cs typeface="Cambria" pitchFamily="34" charset="-120"/>
              </a:rPr>
              <a:t>How to Use the F.I.T. Model in Practice (1/2)</a:t>
            </a:r>
            <a:endParaRPr lang="en-US" sz="2600" dirty="0"/>
          </a:p>
        </p:txBody>
      </p:sp>
      <p:sp>
        <p:nvSpPr>
          <p:cNvPr id="5" name="Shape 3"/>
          <p:cNvSpPr/>
          <p:nvPr/>
        </p:nvSpPr>
        <p:spPr>
          <a:xfrm>
            <a:off x="548640" y="1828800"/>
            <a:ext cx="11091672" cy="1280160"/>
          </a:xfrm>
          <a:prstGeom prst="roundRect">
            <a:avLst>
              <a:gd name="adj" fmla="val 5714"/>
            </a:avLst>
          </a:prstGeom>
          <a:solidFill>
            <a:srgbClr val="F5F5F0"/>
          </a:solidFill>
          <a:ln/>
        </p:spPr>
        <p:txBody>
          <a:bodyPr/>
          <a:lstStyle/>
          <a:p>
            <a:endParaRPr lang="en-GB"/>
          </a:p>
        </p:txBody>
      </p:sp>
      <p:sp>
        <p:nvSpPr>
          <p:cNvPr id="6" name="Text 4"/>
          <p:cNvSpPr/>
          <p:nvPr/>
        </p:nvSpPr>
        <p:spPr>
          <a:xfrm>
            <a:off x="822960" y="1965960"/>
            <a:ext cx="10515600" cy="365760"/>
          </a:xfrm>
          <a:prstGeom prst="rect">
            <a:avLst/>
          </a:prstGeom>
          <a:noFill/>
          <a:ln/>
        </p:spPr>
        <p:txBody>
          <a:bodyPr wrap="square" lIns="0" tIns="0" rIns="0" bIns="0" rtlCol="0" anchor="ctr"/>
          <a:lstStyle/>
          <a:p>
            <a:pPr marL="0" indent="0">
              <a:buNone/>
            </a:pPr>
            <a:r>
              <a:rPr lang="en-US" sz="1500" b="1" dirty="0">
                <a:solidFill>
                  <a:srgbClr val="085041"/>
                </a:solidFill>
                <a:latin typeface="Cambria" pitchFamily="34" charset="0"/>
                <a:ea typeface="Cambria" pitchFamily="34" charset="-122"/>
                <a:cs typeface="Cambria" pitchFamily="34" charset="-120"/>
              </a:rPr>
              <a:t>Step 1 - Identify the exam board</a:t>
            </a:r>
            <a:endParaRPr lang="en-US" sz="1500" dirty="0"/>
          </a:p>
        </p:txBody>
      </p:sp>
      <p:sp>
        <p:nvSpPr>
          <p:cNvPr id="7" name="Text 5"/>
          <p:cNvSpPr/>
          <p:nvPr/>
        </p:nvSpPr>
        <p:spPr>
          <a:xfrm>
            <a:off x="822960" y="2359152"/>
            <a:ext cx="10515600" cy="685800"/>
          </a:xfrm>
          <a:prstGeom prst="rect">
            <a:avLst/>
          </a:prstGeom>
          <a:noFill/>
          <a:ln/>
        </p:spPr>
        <p:txBody>
          <a:bodyPr wrap="square" lIns="0" tIns="0" rIns="0" bIns="0" rtlCol="0" anchor="ctr"/>
          <a:lstStyle/>
          <a:p>
            <a:pPr marL="0" indent="0">
              <a:lnSpc>
                <a:spcPct val="120000"/>
              </a:lnSpc>
              <a:buNone/>
            </a:pPr>
            <a:r>
              <a:rPr lang="en-US" sz="1150" dirty="0">
                <a:solidFill>
                  <a:srgbClr val="222222"/>
                </a:solidFill>
                <a:latin typeface="Calibri" pitchFamily="34" charset="0"/>
                <a:ea typeface="Calibri" pitchFamily="34" charset="-122"/>
                <a:cs typeface="Calibri" pitchFamily="34" charset="-120"/>
              </a:rPr>
              <a:t>Confirm whether your target school uses GL Assessment, Cambridge Select Insight (Cambridge Select Insight Select Insight) or their own paper. This sets the F (Fit) score for every resource.</a:t>
            </a:r>
            <a:endParaRPr lang="en-US" sz="1150" dirty="0"/>
          </a:p>
        </p:txBody>
      </p:sp>
      <p:sp>
        <p:nvSpPr>
          <p:cNvPr id="8" name="Shape 6"/>
          <p:cNvSpPr/>
          <p:nvPr/>
        </p:nvSpPr>
        <p:spPr>
          <a:xfrm>
            <a:off x="548640" y="3291840"/>
            <a:ext cx="11091672" cy="1280160"/>
          </a:xfrm>
          <a:prstGeom prst="roundRect">
            <a:avLst>
              <a:gd name="adj" fmla="val 5714"/>
            </a:avLst>
          </a:prstGeom>
          <a:solidFill>
            <a:srgbClr val="F5F5F0"/>
          </a:solidFill>
          <a:ln/>
        </p:spPr>
        <p:txBody>
          <a:bodyPr/>
          <a:lstStyle/>
          <a:p>
            <a:endParaRPr lang="en-GB"/>
          </a:p>
        </p:txBody>
      </p:sp>
      <p:sp>
        <p:nvSpPr>
          <p:cNvPr id="9" name="Text 7"/>
          <p:cNvSpPr/>
          <p:nvPr/>
        </p:nvSpPr>
        <p:spPr>
          <a:xfrm>
            <a:off x="822960" y="3429000"/>
            <a:ext cx="10515600" cy="365760"/>
          </a:xfrm>
          <a:prstGeom prst="rect">
            <a:avLst/>
          </a:prstGeom>
          <a:noFill/>
          <a:ln/>
        </p:spPr>
        <p:txBody>
          <a:bodyPr wrap="square" lIns="0" tIns="0" rIns="0" bIns="0" rtlCol="0" anchor="ctr"/>
          <a:lstStyle/>
          <a:p>
            <a:pPr marL="0" indent="0">
              <a:buNone/>
            </a:pPr>
            <a:r>
              <a:rPr lang="en-US" sz="1500" b="1" dirty="0">
                <a:solidFill>
                  <a:srgbClr val="085041"/>
                </a:solidFill>
                <a:latin typeface="Cambria" pitchFamily="34" charset="0"/>
                <a:ea typeface="Cambria" pitchFamily="34" charset="-122"/>
                <a:cs typeface="Cambria" pitchFamily="34" charset="-120"/>
              </a:rPr>
              <a:t>Step 2 - Diagnose the skill gap</a:t>
            </a:r>
            <a:endParaRPr lang="en-US" sz="1500" dirty="0"/>
          </a:p>
        </p:txBody>
      </p:sp>
      <p:sp>
        <p:nvSpPr>
          <p:cNvPr id="10" name="Text 8"/>
          <p:cNvSpPr/>
          <p:nvPr/>
        </p:nvSpPr>
        <p:spPr>
          <a:xfrm>
            <a:off x="822960" y="3822192"/>
            <a:ext cx="10515600" cy="685800"/>
          </a:xfrm>
          <a:prstGeom prst="rect">
            <a:avLst/>
          </a:prstGeom>
          <a:noFill/>
          <a:ln/>
        </p:spPr>
        <p:txBody>
          <a:bodyPr wrap="square" lIns="0" tIns="0" rIns="0" bIns="0" rtlCol="0" anchor="ctr"/>
          <a:lstStyle/>
          <a:p>
            <a:pPr marL="0" indent="0">
              <a:lnSpc>
                <a:spcPct val="120000"/>
              </a:lnSpc>
              <a:buNone/>
            </a:pPr>
            <a:r>
              <a:rPr lang="en-US" sz="1150" dirty="0">
                <a:solidFill>
                  <a:srgbClr val="222222"/>
                </a:solidFill>
                <a:latin typeface="Calibri" pitchFamily="34" charset="0"/>
                <a:ea typeface="Calibri" pitchFamily="34" charset="-122"/>
                <a:cs typeface="Calibri" pitchFamily="34" charset="-120"/>
              </a:rPr>
              <a:t>Do a diagnostic check across all five subjects - a free past paper, a tutor assessment, or the Jedon Spelling Age test. This is the I (Impact) question.</a:t>
            </a:r>
            <a:endParaRPr lang="en-US" sz="1150" dirty="0"/>
          </a:p>
        </p:txBody>
      </p:sp>
      <p:sp>
        <p:nvSpPr>
          <p:cNvPr id="11" name="Shape 9"/>
          <p:cNvSpPr/>
          <p:nvPr/>
        </p:nvSpPr>
        <p:spPr>
          <a:xfrm>
            <a:off x="548640" y="4754880"/>
            <a:ext cx="11091672" cy="1280160"/>
          </a:xfrm>
          <a:prstGeom prst="roundRect">
            <a:avLst>
              <a:gd name="adj" fmla="val 5714"/>
            </a:avLst>
          </a:prstGeom>
          <a:solidFill>
            <a:srgbClr val="F5F5F0"/>
          </a:solidFill>
          <a:ln/>
        </p:spPr>
        <p:txBody>
          <a:bodyPr/>
          <a:lstStyle/>
          <a:p>
            <a:endParaRPr lang="en-GB"/>
          </a:p>
        </p:txBody>
      </p:sp>
      <p:sp>
        <p:nvSpPr>
          <p:cNvPr id="12" name="Text 10"/>
          <p:cNvSpPr/>
          <p:nvPr/>
        </p:nvSpPr>
        <p:spPr>
          <a:xfrm>
            <a:off x="822960" y="4892040"/>
            <a:ext cx="10515600" cy="365760"/>
          </a:xfrm>
          <a:prstGeom prst="rect">
            <a:avLst/>
          </a:prstGeom>
          <a:noFill/>
          <a:ln/>
        </p:spPr>
        <p:txBody>
          <a:bodyPr wrap="square" lIns="0" tIns="0" rIns="0" bIns="0" rtlCol="0" anchor="ctr"/>
          <a:lstStyle/>
          <a:p>
            <a:pPr marL="0" indent="0">
              <a:buNone/>
            </a:pPr>
            <a:r>
              <a:rPr lang="en-US" sz="1500" b="1" dirty="0">
                <a:solidFill>
                  <a:srgbClr val="085041"/>
                </a:solidFill>
                <a:latin typeface="Cambria" pitchFamily="34" charset="0"/>
                <a:ea typeface="Cambria" pitchFamily="34" charset="-122"/>
                <a:cs typeface="Cambria" pitchFamily="34" charset="-120"/>
              </a:rPr>
              <a:t>Step 3 - Build a weekly resource plan</a:t>
            </a:r>
            <a:endParaRPr lang="en-US" sz="1500" dirty="0"/>
          </a:p>
        </p:txBody>
      </p:sp>
      <p:sp>
        <p:nvSpPr>
          <p:cNvPr id="13" name="Text 11"/>
          <p:cNvSpPr/>
          <p:nvPr/>
        </p:nvSpPr>
        <p:spPr>
          <a:xfrm>
            <a:off x="822960" y="5285232"/>
            <a:ext cx="10515600" cy="685800"/>
          </a:xfrm>
          <a:prstGeom prst="rect">
            <a:avLst/>
          </a:prstGeom>
          <a:noFill/>
          <a:ln/>
        </p:spPr>
        <p:txBody>
          <a:bodyPr wrap="square" lIns="0" tIns="0" rIns="0" bIns="0" rtlCol="0" anchor="ctr"/>
          <a:lstStyle/>
          <a:p>
            <a:pPr marL="0" indent="0">
              <a:lnSpc>
                <a:spcPct val="120000"/>
              </a:lnSpc>
              <a:buNone/>
            </a:pPr>
            <a:r>
              <a:rPr lang="en-US" sz="1150" dirty="0">
                <a:solidFill>
                  <a:srgbClr val="222222"/>
                </a:solidFill>
                <a:latin typeface="Calibri" pitchFamily="34" charset="0"/>
                <a:ea typeface="Calibri" pitchFamily="34" charset="-122"/>
                <a:cs typeface="Calibri" pitchFamily="34" charset="-120"/>
              </a:rPr>
              <a:t>Select one resource per subject per week. No more than two resources per subject at once. Aim for 15-30 minute sessions that fit into daily life.</a:t>
            </a:r>
            <a:endParaRPr lang="en-US" sz="1150" dirty="0"/>
          </a:p>
        </p:txBody>
      </p:sp>
      <p:sp>
        <p:nvSpPr>
          <p:cNvPr id="14" name="Text 12"/>
          <p:cNvSpPr/>
          <p:nvPr/>
        </p:nvSpPr>
        <p:spPr>
          <a:xfrm>
            <a:off x="457200" y="6537960"/>
            <a:ext cx="82296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Jedon 11+ | F.I.T. Resource Guide</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1005840"/>
            <a:ext cx="11064240" cy="548640"/>
          </a:xfrm>
          <a:prstGeom prst="rect">
            <a:avLst/>
          </a:prstGeom>
          <a:noFill/>
          <a:ln/>
        </p:spPr>
        <p:txBody>
          <a:bodyPr wrap="square" lIns="0" tIns="0" rIns="0" bIns="0" rtlCol="0" anchor="ctr"/>
          <a:lstStyle/>
          <a:p>
            <a:pPr marL="0" indent="0">
              <a:buNone/>
            </a:pPr>
            <a:r>
              <a:rPr lang="en-US" sz="2600" b="1" dirty="0">
                <a:solidFill>
                  <a:srgbClr val="085041"/>
                </a:solidFill>
                <a:latin typeface="Cambria" pitchFamily="34" charset="0"/>
                <a:ea typeface="Cambria" pitchFamily="34" charset="-122"/>
                <a:cs typeface="Cambria" pitchFamily="34" charset="-120"/>
              </a:rPr>
              <a:t>How to Use the F.I.T. Model in Practice (2/2)</a:t>
            </a:r>
            <a:endParaRPr lang="en-US" sz="2600" dirty="0"/>
          </a:p>
        </p:txBody>
      </p:sp>
      <p:sp>
        <p:nvSpPr>
          <p:cNvPr id="5" name="Shape 3"/>
          <p:cNvSpPr/>
          <p:nvPr/>
        </p:nvSpPr>
        <p:spPr>
          <a:xfrm>
            <a:off x="548640" y="1828800"/>
            <a:ext cx="11091672" cy="1280160"/>
          </a:xfrm>
          <a:prstGeom prst="roundRect">
            <a:avLst>
              <a:gd name="adj" fmla="val 5714"/>
            </a:avLst>
          </a:prstGeom>
          <a:solidFill>
            <a:srgbClr val="F5F5F0"/>
          </a:solidFill>
          <a:ln/>
        </p:spPr>
        <p:txBody>
          <a:bodyPr/>
          <a:lstStyle/>
          <a:p>
            <a:endParaRPr lang="en-GB"/>
          </a:p>
        </p:txBody>
      </p:sp>
      <p:sp>
        <p:nvSpPr>
          <p:cNvPr id="6" name="Text 4"/>
          <p:cNvSpPr/>
          <p:nvPr/>
        </p:nvSpPr>
        <p:spPr>
          <a:xfrm>
            <a:off x="822960" y="1965960"/>
            <a:ext cx="10515600" cy="365760"/>
          </a:xfrm>
          <a:prstGeom prst="rect">
            <a:avLst/>
          </a:prstGeom>
          <a:noFill/>
          <a:ln/>
        </p:spPr>
        <p:txBody>
          <a:bodyPr wrap="square" lIns="0" tIns="0" rIns="0" bIns="0" rtlCol="0" anchor="ctr"/>
          <a:lstStyle/>
          <a:p>
            <a:pPr marL="0" indent="0">
              <a:buNone/>
            </a:pPr>
            <a:r>
              <a:rPr lang="en-US" sz="1500" b="1" dirty="0">
                <a:solidFill>
                  <a:srgbClr val="085041"/>
                </a:solidFill>
                <a:latin typeface="Cambria" pitchFamily="34" charset="0"/>
                <a:ea typeface="Cambria" pitchFamily="34" charset="-122"/>
                <a:cs typeface="Cambria" pitchFamily="34" charset="-120"/>
              </a:rPr>
              <a:t>Step 4 - Review progress every 4-6 weeks</a:t>
            </a:r>
            <a:endParaRPr lang="en-US" sz="1500" dirty="0"/>
          </a:p>
        </p:txBody>
      </p:sp>
      <p:sp>
        <p:nvSpPr>
          <p:cNvPr id="7" name="Text 5"/>
          <p:cNvSpPr/>
          <p:nvPr/>
        </p:nvSpPr>
        <p:spPr>
          <a:xfrm>
            <a:off x="822960" y="2359152"/>
            <a:ext cx="10515600" cy="685800"/>
          </a:xfrm>
          <a:prstGeom prst="rect">
            <a:avLst/>
          </a:prstGeom>
          <a:noFill/>
          <a:ln/>
        </p:spPr>
        <p:txBody>
          <a:bodyPr wrap="square" lIns="0" tIns="0" rIns="0" bIns="0" rtlCol="0" anchor="ctr"/>
          <a:lstStyle/>
          <a:p>
            <a:pPr marL="0" indent="0">
              <a:lnSpc>
                <a:spcPct val="120000"/>
              </a:lnSpc>
              <a:buNone/>
            </a:pPr>
            <a:r>
              <a:rPr lang="en-US" sz="1150" dirty="0">
                <a:solidFill>
                  <a:srgbClr val="222222"/>
                </a:solidFill>
                <a:latin typeface="Calibri" pitchFamily="34" charset="0"/>
                <a:ea typeface="Calibri" pitchFamily="34" charset="-122"/>
                <a:cs typeface="Calibri" pitchFamily="34" charset="-120"/>
              </a:rPr>
              <a:t>Reassess scores regularly. If a resource isn't moving the needle, switch. F.I.T. is about matching the right resource to the right gap at the right time.</a:t>
            </a:r>
            <a:endParaRPr lang="en-US" sz="1150" dirty="0"/>
          </a:p>
        </p:txBody>
      </p:sp>
      <p:sp>
        <p:nvSpPr>
          <p:cNvPr id="8" name="Shape 6"/>
          <p:cNvSpPr/>
          <p:nvPr/>
        </p:nvSpPr>
        <p:spPr>
          <a:xfrm>
            <a:off x="548640" y="3291840"/>
            <a:ext cx="11091672" cy="1280160"/>
          </a:xfrm>
          <a:prstGeom prst="roundRect">
            <a:avLst>
              <a:gd name="adj" fmla="val 5714"/>
            </a:avLst>
          </a:prstGeom>
          <a:solidFill>
            <a:srgbClr val="F5F5F0"/>
          </a:solidFill>
          <a:ln/>
        </p:spPr>
        <p:txBody>
          <a:bodyPr/>
          <a:lstStyle/>
          <a:p>
            <a:endParaRPr lang="en-GB"/>
          </a:p>
        </p:txBody>
      </p:sp>
      <p:sp>
        <p:nvSpPr>
          <p:cNvPr id="9" name="Text 7"/>
          <p:cNvSpPr/>
          <p:nvPr/>
        </p:nvSpPr>
        <p:spPr>
          <a:xfrm>
            <a:off x="822960" y="3429000"/>
            <a:ext cx="10515600" cy="365760"/>
          </a:xfrm>
          <a:prstGeom prst="rect">
            <a:avLst/>
          </a:prstGeom>
          <a:noFill/>
          <a:ln/>
        </p:spPr>
        <p:txBody>
          <a:bodyPr wrap="square" lIns="0" tIns="0" rIns="0" bIns="0" rtlCol="0" anchor="ctr"/>
          <a:lstStyle/>
          <a:p>
            <a:pPr marL="0" indent="0">
              <a:buNone/>
            </a:pPr>
            <a:r>
              <a:rPr lang="en-US" sz="1500" b="1" dirty="0">
                <a:solidFill>
                  <a:srgbClr val="085041"/>
                </a:solidFill>
                <a:latin typeface="Cambria" pitchFamily="34" charset="0"/>
                <a:ea typeface="Cambria" pitchFamily="34" charset="-122"/>
                <a:cs typeface="Cambria" pitchFamily="34" charset="-120"/>
              </a:rPr>
              <a:t>Step 5 - Adjust for motivation</a:t>
            </a:r>
            <a:endParaRPr lang="en-US" sz="1500" dirty="0"/>
          </a:p>
        </p:txBody>
      </p:sp>
      <p:sp>
        <p:nvSpPr>
          <p:cNvPr id="10" name="Text 8"/>
          <p:cNvSpPr/>
          <p:nvPr/>
        </p:nvSpPr>
        <p:spPr>
          <a:xfrm>
            <a:off x="822960" y="3822192"/>
            <a:ext cx="10515600" cy="685800"/>
          </a:xfrm>
          <a:prstGeom prst="rect">
            <a:avLst/>
          </a:prstGeom>
          <a:noFill/>
          <a:ln/>
        </p:spPr>
        <p:txBody>
          <a:bodyPr wrap="square" lIns="0" tIns="0" rIns="0" bIns="0" rtlCol="0" anchor="ctr"/>
          <a:lstStyle/>
          <a:p>
            <a:pPr marL="0" indent="0">
              <a:lnSpc>
                <a:spcPct val="120000"/>
              </a:lnSpc>
              <a:buNone/>
            </a:pPr>
            <a:r>
              <a:rPr lang="en-US" sz="1150" dirty="0">
                <a:solidFill>
                  <a:srgbClr val="222222"/>
                </a:solidFill>
                <a:latin typeface="Calibri" pitchFamily="34" charset="0"/>
                <a:ea typeface="Calibri" pitchFamily="34" charset="-122"/>
                <a:cs typeface="Calibri" pitchFamily="34" charset="-120"/>
              </a:rPr>
              <a:t>The T element matters as much as fit and impact. If engagement drops, switch format - paper to online, full papers to 10-minute tests, solo to parent-and-child.</a:t>
            </a:r>
            <a:endParaRPr lang="en-US" sz="1150" dirty="0"/>
          </a:p>
        </p:txBody>
      </p:sp>
      <p:sp>
        <p:nvSpPr>
          <p:cNvPr id="11" name="Text 9"/>
          <p:cNvSpPr/>
          <p:nvPr/>
        </p:nvSpPr>
        <p:spPr>
          <a:xfrm>
            <a:off x="457200" y="6537960"/>
            <a:ext cx="82296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Jedon 11+ | F.I.T. Resource Guide</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Sample Resource Journey (6-18 months to exam)</a:t>
            </a:r>
            <a:endParaRPr lang="en-US" sz="2400" dirty="0"/>
          </a:p>
        </p:txBody>
      </p:sp>
      <p:sp>
        <p:nvSpPr>
          <p:cNvPr id="5" name="Shape 3"/>
          <p:cNvSpPr/>
          <p:nvPr/>
        </p:nvSpPr>
        <p:spPr>
          <a:xfrm>
            <a:off x="548640" y="1828800"/>
            <a:ext cx="5349240" cy="502920"/>
          </a:xfrm>
          <a:prstGeom prst="roundRect">
            <a:avLst>
              <a:gd name="adj" fmla="val 10909"/>
            </a:avLst>
          </a:prstGeom>
          <a:solidFill>
            <a:srgbClr val="B8863C"/>
          </a:solidFill>
          <a:ln/>
        </p:spPr>
        <p:txBody>
          <a:bodyPr/>
          <a:lstStyle/>
          <a:p>
            <a:endParaRPr lang="en-GB"/>
          </a:p>
        </p:txBody>
      </p:sp>
      <p:sp>
        <p:nvSpPr>
          <p:cNvPr id="6" name="Text 4"/>
          <p:cNvSpPr/>
          <p:nvPr/>
        </p:nvSpPr>
        <p:spPr>
          <a:xfrm>
            <a:off x="731520" y="1828800"/>
            <a:ext cx="498348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Maths</a:t>
            </a:r>
            <a:endParaRPr lang="en-US" sz="1500" dirty="0"/>
          </a:p>
        </p:txBody>
      </p:sp>
      <p:sp>
        <p:nvSpPr>
          <p:cNvPr id="7" name="Shape 5"/>
          <p:cNvSpPr/>
          <p:nvPr/>
        </p:nvSpPr>
        <p:spPr>
          <a:xfrm>
            <a:off x="548640" y="2331720"/>
            <a:ext cx="5349240" cy="2788920"/>
          </a:xfrm>
          <a:prstGeom prst="roundRect">
            <a:avLst/>
          </a:prstGeom>
          <a:solidFill>
            <a:srgbClr val="F5F5F0"/>
          </a:solidFill>
          <a:ln/>
        </p:spPr>
        <p:txBody>
          <a:bodyPr/>
          <a:lstStyle/>
          <a:p>
            <a:endParaRPr lang="en-GB"/>
          </a:p>
        </p:txBody>
      </p:sp>
      <p:sp>
        <p:nvSpPr>
          <p:cNvPr id="8" name="Text 6"/>
          <p:cNvSpPr/>
          <p:nvPr/>
        </p:nvSpPr>
        <p:spPr>
          <a:xfrm>
            <a:off x="777240" y="2514600"/>
            <a:ext cx="4892040" cy="2423160"/>
          </a:xfrm>
          <a:prstGeom prst="rect">
            <a:avLst/>
          </a:prstGeom>
          <a:noFill/>
          <a:ln/>
        </p:spPr>
        <p:txBody>
          <a:bodyPr wrap="square" lIns="0" tIns="0" rIns="0" bIns="0" rtlCol="0" anchor="ctr"/>
          <a:lstStyle/>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CGP Maths &amp; Non-Verbal Assessment/Practice papers (9-10 years)</a:t>
            </a:r>
            <a:endParaRPr lang="en-US" sz="1100" dirty="0"/>
          </a:p>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Bond Maths (level 2)</a:t>
            </a:r>
            <a:endParaRPr lang="en-US" sz="1100" dirty="0"/>
          </a:p>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CGP Maths 10-minute tests (9-10 years) - for speed</a:t>
            </a:r>
            <a:endParaRPr lang="en-US" sz="1100" dirty="0"/>
          </a:p>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Schofield &amp; Sims Fractions - for a specific weak topic</a:t>
            </a:r>
            <a:endParaRPr lang="en-US" sz="1100" dirty="0"/>
          </a:p>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Topic-based worksheets to consolidate per topic</a:t>
            </a:r>
            <a:endParaRPr lang="en-US" sz="1100" dirty="0"/>
          </a:p>
        </p:txBody>
      </p:sp>
      <p:sp>
        <p:nvSpPr>
          <p:cNvPr id="9" name="Shape 7"/>
          <p:cNvSpPr/>
          <p:nvPr/>
        </p:nvSpPr>
        <p:spPr>
          <a:xfrm>
            <a:off x="6263640" y="1828800"/>
            <a:ext cx="5349240" cy="502920"/>
          </a:xfrm>
          <a:prstGeom prst="roundRect">
            <a:avLst>
              <a:gd name="adj" fmla="val 10909"/>
            </a:avLst>
          </a:prstGeom>
          <a:solidFill>
            <a:srgbClr val="085041"/>
          </a:solidFill>
          <a:ln/>
        </p:spPr>
        <p:txBody>
          <a:bodyPr/>
          <a:lstStyle/>
          <a:p>
            <a:endParaRPr lang="en-GB"/>
          </a:p>
        </p:txBody>
      </p:sp>
      <p:sp>
        <p:nvSpPr>
          <p:cNvPr id="10" name="Text 8"/>
          <p:cNvSpPr/>
          <p:nvPr/>
        </p:nvSpPr>
        <p:spPr>
          <a:xfrm>
            <a:off x="6446520" y="1828800"/>
            <a:ext cx="498348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English</a:t>
            </a:r>
            <a:endParaRPr lang="en-US" sz="1500" dirty="0"/>
          </a:p>
        </p:txBody>
      </p:sp>
      <p:sp>
        <p:nvSpPr>
          <p:cNvPr id="11" name="Shape 9"/>
          <p:cNvSpPr/>
          <p:nvPr/>
        </p:nvSpPr>
        <p:spPr>
          <a:xfrm>
            <a:off x="6263640" y="2331720"/>
            <a:ext cx="5349240" cy="2788920"/>
          </a:xfrm>
          <a:prstGeom prst="roundRect">
            <a:avLst/>
          </a:prstGeom>
          <a:solidFill>
            <a:srgbClr val="F5F5F0"/>
          </a:solidFill>
          <a:ln/>
        </p:spPr>
        <p:txBody>
          <a:bodyPr/>
          <a:lstStyle/>
          <a:p>
            <a:endParaRPr lang="en-GB"/>
          </a:p>
        </p:txBody>
      </p:sp>
      <p:sp>
        <p:nvSpPr>
          <p:cNvPr id="12" name="Text 10"/>
          <p:cNvSpPr/>
          <p:nvPr/>
        </p:nvSpPr>
        <p:spPr>
          <a:xfrm>
            <a:off x="6492240" y="2514600"/>
            <a:ext cx="4892040" cy="2423160"/>
          </a:xfrm>
          <a:prstGeom prst="rect">
            <a:avLst/>
          </a:prstGeom>
          <a:noFill/>
          <a:ln/>
        </p:spPr>
        <p:txBody>
          <a:bodyPr wrap="square" lIns="0" tIns="0" rIns="0" bIns="0" rtlCol="0" anchor="ctr"/>
          <a:lstStyle/>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Bond Comprehension (9-10 years)</a:t>
            </a:r>
            <a:endParaRPr lang="en-US" sz="1100" dirty="0"/>
          </a:p>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Bond Focus on Comprehension</a:t>
            </a:r>
            <a:endParaRPr lang="en-US" sz="1100" dirty="0"/>
          </a:p>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Combined Verbal Reasoning and English papers (10-11 years)</a:t>
            </a:r>
            <a:endParaRPr lang="en-US" sz="1100" dirty="0"/>
          </a:p>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First Aid in English - for general knowledge gaps</a:t>
            </a:r>
            <a:endParaRPr lang="en-US" sz="1100" dirty="0"/>
          </a:p>
          <a:p>
            <a:pPr marL="342900" indent="-342900">
              <a:lnSpc>
                <a:spcPct val="125000"/>
              </a:lnSpc>
              <a:spcAft>
                <a:spcPts val="400"/>
              </a:spcAft>
              <a:buSzPct val="100000"/>
              <a:buChar char="•"/>
            </a:pPr>
            <a:r>
              <a:rPr lang="en-US" sz="1100" dirty="0">
                <a:solidFill>
                  <a:srgbClr val="222222"/>
                </a:solidFill>
                <a:latin typeface="Calibri" pitchFamily="34" charset="0"/>
                <a:ea typeface="Calibri" pitchFamily="34" charset="-122"/>
                <a:cs typeface="Calibri" pitchFamily="34" charset="-120"/>
              </a:rPr>
              <a:t>Topic-based worksheets to consolidate per topic</a:t>
            </a:r>
            <a:endParaRPr lang="en-US" sz="1100" dirty="0"/>
          </a:p>
        </p:txBody>
      </p:sp>
      <p:sp>
        <p:nvSpPr>
          <p:cNvPr id="13" name="Shape 11"/>
          <p:cNvSpPr/>
          <p:nvPr/>
        </p:nvSpPr>
        <p:spPr>
          <a:xfrm>
            <a:off x="548640" y="5349240"/>
            <a:ext cx="11091672" cy="914400"/>
          </a:xfrm>
          <a:prstGeom prst="roundRect">
            <a:avLst>
              <a:gd name="adj" fmla="val 6000"/>
            </a:avLst>
          </a:prstGeom>
          <a:solidFill>
            <a:srgbClr val="FFF3EE"/>
          </a:solidFill>
          <a:ln w="9525">
            <a:solidFill>
              <a:srgbClr val="FF7451"/>
            </a:solidFill>
            <a:prstDash val="solid"/>
          </a:ln>
        </p:spPr>
        <p:txBody>
          <a:bodyPr/>
          <a:lstStyle/>
          <a:p>
            <a:endParaRPr lang="en-GB"/>
          </a:p>
        </p:txBody>
      </p:sp>
      <p:sp>
        <p:nvSpPr>
          <p:cNvPr id="14" name="Text 12"/>
          <p:cNvSpPr/>
          <p:nvPr/>
        </p:nvSpPr>
        <p:spPr>
          <a:xfrm>
            <a:off x="777240" y="5440680"/>
            <a:ext cx="10607040" cy="731520"/>
          </a:xfrm>
          <a:prstGeom prst="rect">
            <a:avLst/>
          </a:prstGeom>
          <a:noFill/>
          <a:ln/>
        </p:spPr>
        <p:txBody>
          <a:bodyPr wrap="square" lIns="0" tIns="0" rIns="0" bIns="0" rtlCol="0" anchor="ctr"/>
          <a:lstStyle/>
          <a:p>
            <a:pPr marL="0" indent="0">
              <a:lnSpc>
                <a:spcPct val="120000"/>
              </a:lnSpc>
              <a:buNone/>
            </a:pPr>
            <a:r>
              <a:rPr lang="en-US" sz="1050" b="1" dirty="0">
                <a:solidFill>
                  <a:srgbClr val="085041"/>
                </a:solidFill>
                <a:latin typeface="Calibri" pitchFamily="34" charset="0"/>
                <a:ea typeface="Calibri" pitchFamily="34" charset="-122"/>
                <a:cs typeface="Calibri" pitchFamily="34" charset="-120"/>
              </a:rPr>
              <a:t>How to read this:  </a:t>
            </a:r>
            <a:r>
              <a:rPr lang="en-US" sz="1050" dirty="0">
                <a:solidFill>
                  <a:srgbClr val="222222"/>
                </a:solidFill>
                <a:latin typeface="Calibri" pitchFamily="34" charset="0"/>
                <a:ea typeface="Calibri" pitchFamily="34" charset="-122"/>
                <a:cs typeface="Calibri" pitchFamily="34" charset="-120"/>
              </a:rPr>
              <a:t>an illustrative journey through resource levels and types over 6-18 months, not a fixed prescription. Build your own plan from your child's diagnostic results.</a:t>
            </a:r>
            <a:endParaRPr lang="en-US" sz="1050" dirty="0"/>
          </a:p>
        </p:txBody>
      </p:sp>
      <p:sp>
        <p:nvSpPr>
          <p:cNvPr id="15" name="Text 13"/>
          <p:cNvSpPr/>
          <p:nvPr/>
        </p:nvSpPr>
        <p:spPr>
          <a:xfrm>
            <a:off x="457200" y="6537960"/>
            <a:ext cx="82296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Jedon 11+ | F.I.T. Resource Guide</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085041"/>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666666"/>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1005840"/>
            <a:ext cx="11064240" cy="548640"/>
          </a:xfrm>
          <a:prstGeom prst="rect">
            <a:avLst/>
          </a:prstGeom>
          <a:noFill/>
          <a:ln/>
        </p:spPr>
        <p:txBody>
          <a:bodyPr wrap="square" lIns="0" tIns="0" rIns="0" bIns="0" rtlCol="0" anchor="ctr"/>
          <a:lstStyle/>
          <a:p>
            <a:pPr marL="0" indent="0">
              <a:buNone/>
            </a:pPr>
            <a:r>
              <a:rPr lang="en-US" sz="2400" b="1" dirty="0">
                <a:solidFill>
                  <a:srgbClr val="085041"/>
                </a:solidFill>
                <a:latin typeface="Cambria" pitchFamily="34" charset="0"/>
                <a:ea typeface="Cambria" pitchFamily="34" charset="-122"/>
                <a:cs typeface="Cambria" pitchFamily="34" charset="-120"/>
              </a:rPr>
              <a:t>Quick Reference - Which Resource for Which Stage?</a:t>
            </a:r>
            <a:endParaRPr lang="en-US" sz="2400" dirty="0"/>
          </a:p>
        </p:txBody>
      </p:sp>
      <p:graphicFrame>
        <p:nvGraphicFramePr>
          <p:cNvPr id="38" name="Table 0"/>
          <p:cNvGraphicFramePr>
            <a:graphicFrameLocks noGrp="1"/>
          </p:cNvGraphicFramePr>
          <p:nvPr>
            <p:extLst>
              <p:ext uri="{D42A27DB-BD31-4B8C-83A1-F6EECF244321}">
                <p14:modId xmlns:p14="http://schemas.microsoft.com/office/powerpoint/2010/main" val="1224824408"/>
              </p:ext>
            </p:extLst>
          </p:nvPr>
        </p:nvGraphicFramePr>
        <p:xfrm>
          <a:off x="548640" y="1828800"/>
          <a:ext cx="11091672" cy="3291840"/>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5486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Subject</a:t>
                      </a:r>
                      <a:endParaRPr lang="en-US" sz="120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08504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Starting out (Yrs 3-4)</a:t>
                      </a:r>
                      <a:endParaRPr lang="en-US" sz="120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08504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Building skills/revision (Yr 5)</a:t>
                      </a:r>
                      <a:endParaRPr lang="en-US" sz="120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08504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 (last 2 months of revision-Yrs 5/6)</a:t>
                      </a:r>
                      <a:endParaRPr lang="en-US" sz="120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085041"/>
                    </a:solidFill>
                  </a:tcPr>
                </a:tc>
                <a:extLst>
                  <a:ext uri="{0D108BD9-81ED-4DB2-BD59-A6C34878D82A}">
                    <a16:rowId xmlns:a16="http://schemas.microsoft.com/office/drawing/2014/main" val="10000"/>
                  </a:ext>
                </a:extLst>
              </a:tr>
              <a:tr h="548640">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English</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Schofield and Sims Study Book</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Bond Assessment Papers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CGP Practice Papers + Timed Tests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Maths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5F5F0"/>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CGP Practice Book (topics)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5F5F0"/>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Bond Assessment Papers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5F5F0"/>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Schofield Rapid Tests + Mock Papers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5F5F0"/>
                    </a:solidFill>
                  </a:tcPr>
                </a:tc>
                <a:extLst>
                  <a:ext uri="{0D108BD9-81ED-4DB2-BD59-A6C34878D82A}">
                    <a16:rowId xmlns:a16="http://schemas.microsoft.com/office/drawing/2014/main" val="10002"/>
                  </a:ext>
                </a:extLst>
              </a:tr>
              <a:tr h="548640">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Verbal Reasoning</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IPS Method and Technique</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CGP Study Book + Bond Papers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Bond Timed Papers + Error Analysis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Non-Verbal Reasoning</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5F5F0"/>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Schofield Study and Practice Book</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5F5F0"/>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Bond NVR Papers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5F5F0"/>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CGP NVR Timed Tests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5F5F0"/>
                    </a:solidFill>
                  </a:tcPr>
                </a:tc>
                <a:extLst>
                  <a:ext uri="{0D108BD9-81ED-4DB2-BD59-A6C34878D82A}">
                    <a16:rowId xmlns:a16="http://schemas.microsoft.com/office/drawing/2014/main" val="10004"/>
                  </a:ext>
                </a:extLst>
              </a:tr>
              <a:tr h="548640">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Spatial Reasoning</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CGP Spatial 10-Minute Tests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CGP + Letts Spatial Tests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Daily Spatial + Mixed NVR Papers</a:t>
                      </a:r>
                      <a:endParaRPr lang="en-US" sz="1050" dirty="0">
                        <a:latin typeface="Calibri" charset="0"/>
                        <a:ea typeface="Calibri" charset="0"/>
                        <a:cs typeface="Calibri" charset="0"/>
                      </a:endParaRPr>
                    </a:p>
                  </a:txBody>
                  <a:tcPr anchor="ctr">
                    <a:lnL w="6350" cap="flat" cmpd="sng" algn="ctr">
                      <a:solidFill>
                        <a:srgbClr val="E5E2D8"/>
                      </a:solidFill>
                      <a:prstDash val="solid"/>
                      <a:round/>
                      <a:headEnd type="none" w="med" len="med"/>
                      <a:tailEnd type="none" w="med" len="med"/>
                    </a:lnL>
                    <a:lnR w="6350" cap="flat" cmpd="sng" algn="ctr">
                      <a:solidFill>
                        <a:srgbClr val="E5E2D8"/>
                      </a:solidFill>
                      <a:prstDash val="solid"/>
                      <a:round/>
                      <a:headEnd type="none" w="med" len="med"/>
                      <a:tailEnd type="none" w="med" len="med"/>
                    </a:lnR>
                    <a:lnT w="6350" cap="flat" cmpd="sng" algn="ctr">
                      <a:solidFill>
                        <a:srgbClr val="E5E2D8"/>
                      </a:solidFill>
                      <a:prstDash val="solid"/>
                      <a:round/>
                      <a:headEnd type="none" w="med" len="med"/>
                      <a:tailEnd type="none" w="med" len="med"/>
                    </a:lnT>
                    <a:lnB w="6350" cap="flat" cmpd="sng" algn="ctr">
                      <a:solidFill>
                        <a:srgbClr val="E5E2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6309360"/>
            <a:ext cx="11091672" cy="457200"/>
          </a:xfrm>
          <a:prstGeom prst="rect">
            <a:avLst/>
          </a:prstGeom>
          <a:noFill/>
          <a:ln/>
        </p:spPr>
        <p:txBody>
          <a:bodyPr wrap="square" lIns="0" tIns="0" rIns="0" bIns="0" rtlCol="0" anchor="ctr"/>
          <a:lstStyle/>
          <a:p>
            <a:pPr marL="0" indent="0">
              <a:buNone/>
            </a:pPr>
            <a:r>
              <a:rPr lang="en-US" sz="850" dirty="0">
                <a:solidFill>
                  <a:srgbClr val="666666"/>
                </a:solidFill>
                <a:latin typeface="Calibri" pitchFamily="34" charset="0"/>
                <a:ea typeface="Calibri" pitchFamily="34" charset="-122"/>
                <a:cs typeface="Calibri" pitchFamily="34" charset="-120"/>
              </a:rPr>
              <a:t>The F.I.T. model is an original Jedon 11+ framework. Resource recommendations are based on publicly available publisher information and parent and tutor experience. Always verify current editions and exam board compatibility before purchasing.</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085041"/>
        </a:solidFill>
        <a:effectLst/>
      </p:bgPr>
    </p:bg>
    <p:spTree>
      <p:nvGrpSpPr>
        <p:cNvPr id="1" name=""/>
        <p:cNvGrpSpPr/>
        <p:nvPr/>
      </p:nvGrpSpPr>
      <p:grpSpPr>
        <a:xfrm>
          <a:off x="0" y="0"/>
          <a:ext cx="0" cy="0"/>
          <a:chOff x="0" y="0"/>
          <a:chExt cx="0" cy="0"/>
        </a:xfrm>
      </p:grpSpPr>
      <p:sp>
        <p:nvSpPr>
          <p:cNvPr id="2" name="Text 0"/>
          <p:cNvSpPr/>
          <p:nvPr/>
        </p:nvSpPr>
        <p:spPr>
          <a:xfrm>
            <a:off x="457200" y="2743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Jedon</a:t>
            </a:r>
            <a:r>
              <a:rPr lang="en-US" sz="2000" b="1" dirty="0">
                <a:solidFill>
                  <a:srgbClr val="FF7451"/>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457200" y="658368"/>
            <a:ext cx="2743200" cy="228600"/>
          </a:xfrm>
          <a:prstGeom prst="rect">
            <a:avLst/>
          </a:prstGeom>
          <a:noFill/>
          <a:ln/>
        </p:spPr>
        <p:txBody>
          <a:bodyPr wrap="square" lIns="0" tIns="0" rIns="0" bIns="0" rtlCol="0" anchor="ctr"/>
          <a:lstStyle/>
          <a:p>
            <a:pPr marL="0" indent="0">
              <a:buNone/>
            </a:pPr>
            <a:r>
              <a:rPr lang="en-US" sz="800" kern="0" spc="200" dirty="0">
                <a:solidFill>
                  <a:srgbClr val="CFE8DE"/>
                </a:solidFill>
                <a:latin typeface="Calibri" pitchFamily="34" charset="0"/>
                <a:ea typeface="Calibri" pitchFamily="34" charset="-122"/>
                <a:cs typeface="Calibri" pitchFamily="34" charset="-120"/>
              </a:rPr>
              <a:t>NAVIGATING TOGETHER</a:t>
            </a:r>
            <a:endParaRPr lang="en-US" sz="800" dirty="0"/>
          </a:p>
        </p:txBody>
      </p:sp>
      <p:sp>
        <p:nvSpPr>
          <p:cNvPr id="4" name="Text 2"/>
          <p:cNvSpPr/>
          <p:nvPr/>
        </p:nvSpPr>
        <p:spPr>
          <a:xfrm>
            <a:off x="548640" y="2743200"/>
            <a:ext cx="10972800" cy="9144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Navigating Together</a:t>
            </a:r>
            <a:endParaRPr lang="en-US" sz="3400" dirty="0"/>
          </a:p>
        </p:txBody>
      </p:sp>
      <p:sp>
        <p:nvSpPr>
          <p:cNvPr id="5" name="Text 3"/>
          <p:cNvSpPr/>
          <p:nvPr/>
        </p:nvSpPr>
        <p:spPr>
          <a:xfrm>
            <a:off x="548640" y="3520440"/>
            <a:ext cx="10972800" cy="457200"/>
          </a:xfrm>
          <a:prstGeom prst="rect">
            <a:avLst/>
          </a:prstGeom>
          <a:noFill/>
          <a:ln/>
        </p:spPr>
        <p:txBody>
          <a:bodyPr wrap="square" lIns="0" tIns="0" rIns="0" bIns="0" rtlCol="0" anchor="ctr"/>
          <a:lstStyle/>
          <a:p>
            <a:pPr marL="0" indent="0">
              <a:buNone/>
            </a:pPr>
            <a:r>
              <a:rPr lang="en-US" sz="1400" dirty="0">
                <a:solidFill>
                  <a:srgbClr val="CFE8DE"/>
                </a:solidFill>
                <a:latin typeface="Calibri" pitchFamily="34" charset="0"/>
                <a:ea typeface="Calibri" pitchFamily="34" charset="-122"/>
                <a:cs typeface="Calibri" pitchFamily="34" charset="-120"/>
              </a:rPr>
              <a:t>from a parent to parents  |  jedon11plus.co.uk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2844</TotalTime>
  <Words>5277</Words>
  <Application>Microsoft Office PowerPoint</Application>
  <PresentationFormat>Widescreen</PresentationFormat>
  <Paragraphs>536</Paragraphs>
  <Slides>40</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Cambria</vt:lpstr>
      <vt:lpstr>Google Sans</vt:lpstr>
      <vt:lpstr>Google Sans Text</vt:lpstr>
      <vt:lpstr>Office Theme</vt:lpstr>
      <vt:lpstr>PowerPoint Presentation</vt:lpstr>
      <vt:lpstr>THE 11+ SYLLABUS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Esosa Ikolo</cp:lastModifiedBy>
  <cp:revision>1</cp:revision>
  <dcterms:created xsi:type="dcterms:W3CDTF">2026-08-01T21:55:43Z</dcterms:created>
  <dcterms:modified xsi:type="dcterms:W3CDTF">2026-09-10T22:03:11Z</dcterms:modified>
</cp:coreProperties>
</file>